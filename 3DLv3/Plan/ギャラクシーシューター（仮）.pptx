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9" r:id="rId12"/>
    <p:sldId id="268" r:id="rId13"/>
    <p:sldId id="264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琥太郎" initials="琥太郎" lastIdx="1" clrIdx="0">
    <p:extLst>
      <p:ext uri="{19B8F6BF-5375-455C-9EA6-DF929625EA0E}">
        <p15:presenceInfo xmlns:p15="http://schemas.microsoft.com/office/powerpoint/2012/main" userId="e19b651849222c2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F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DD8092-A7ED-4CE9-A34B-7EA879BE5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8074C48-D06C-4A5C-B384-98B23F8E07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AC0E2B-DDAF-4B4A-A764-383B80264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D667-4043-4F0F-AD7A-20ADD4BFEE1C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14B27D-330D-4BB9-9CE4-C8B5EE4BB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6EB62C-91D9-468C-89FC-BF5B4E594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E1087-8D6E-403A-A49A-F61820F4F2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6372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BFF230-2651-416E-8734-43F671E9E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6B98A7-233C-4D81-B00F-CC928CF3E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B1BB051-6251-46D8-A9C4-BB1A0692E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D667-4043-4F0F-AD7A-20ADD4BFEE1C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E52485-5693-483D-82A8-5832ED7F0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C785CF-17DC-4FA2-9FE3-60788AAC7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E1087-8D6E-403A-A49A-F61820F4F2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9058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777CCD-1844-4AAB-9D7D-BFBD96A5F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2E3CA09-FD91-4BB4-A38B-31C9F4400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66DF964-AB78-4F45-800C-1480755D0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D667-4043-4F0F-AD7A-20ADD4BFEE1C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D910DA-8DD9-4D73-869D-3E066C710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790F1A-7E4C-4FEC-99B8-7DE60CB55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E1087-8D6E-403A-A49A-F61820F4F2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1736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6D9587-9D15-418A-8785-B1C73CE49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7A9ACBC-1C5E-4DCD-97BE-78B8349F1B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FE25D69-5EC6-48DB-8623-8F1F984E7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C2F90EB-7643-4DB8-8F67-AD9628BAF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D667-4043-4F0F-AD7A-20ADD4BFEE1C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78ACD91-03D1-4F67-B0C9-4688D8B1D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71272EF-F092-4726-A5F0-73E534B6C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E1087-8D6E-403A-A49A-F61820F4F2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4088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168BB6-051D-400E-9636-9B40A4AC7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45BBBA3-02D9-44F9-B024-41CA72BC8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E0E7C84-8978-41FB-A374-5F7364C73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1116ED3-A58C-4F68-9592-827C04253A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822E205-98CF-454E-BD38-BA4B033AE0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3B33E74-2B7C-4CF8-A1E1-5CDEBD3D1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D667-4043-4F0F-AD7A-20ADD4BFEE1C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153A217-961C-4DD2-B7B9-9D54A03B9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63B81F5-B1A6-4F13-B191-45A80A593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E1087-8D6E-403A-A49A-F61820F4F2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6357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A04FB9-30CC-42C7-BB60-E322420F4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71F5A1D-C62F-4E85-83E0-B684A0BC3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D667-4043-4F0F-AD7A-20ADD4BFEE1C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D709CEE-F933-489D-8076-941CE3EEF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2C466BB-C288-4212-BBB3-8A549686C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E1087-8D6E-403A-A49A-F61820F4F2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7422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BF12053-D587-41DA-BAEC-F3A988D19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D667-4043-4F0F-AD7A-20ADD4BFEE1C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DD48E0F-81BF-45C6-BB2A-95C2C7117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E88561F-7265-4759-B91A-054472EE8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E1087-8D6E-403A-A49A-F61820F4F2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8324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FA776B-0868-47FA-B9F4-1B41F4CCD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5C10EF8-4C2E-4645-BA6B-4B11113E9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90DC5AE-48C9-4B8F-87DC-632B1646E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BCD260F-6230-4D2E-9A94-27EC1E232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D667-4043-4F0F-AD7A-20ADD4BFEE1C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A6B6802-3485-472C-8152-A21102E12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1401A89-E24B-4C7B-B490-B03D44E52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E1087-8D6E-403A-A49A-F61820F4F2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3210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12EA6-13C4-49EF-AF5D-A5A15399E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E636FCB-D357-4130-8840-3D6ECFD939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35621D1-A013-47FA-B189-50D86E8BC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EB1DBF3-D1DE-498E-B3FD-92DCF14DA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D667-4043-4F0F-AD7A-20ADD4BFEE1C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3C338B1-0673-44CA-9B69-1A1B68E38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F07A53-5741-44A4-A99D-F363F76B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E1087-8D6E-403A-A49A-F61820F4F2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9781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821711-66DE-43F4-9024-2489E7F9B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A646720-6CB2-4BA2-8064-C3F748B25C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A5C4A0-3CB1-4CCE-92EE-50684239F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D667-4043-4F0F-AD7A-20ADD4BFEE1C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9BE82C8-F0A9-4919-8144-8149C143F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53849A-F9A8-462D-B0B8-858C0B1DC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E1087-8D6E-403A-A49A-F61820F4F2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4467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839D498-85FF-4A0A-8A32-62478ADDB3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9C72E7C-3DE4-410E-978F-DB65C614A8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B56385-ECDC-4442-BCCE-DAEE3A077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D667-4043-4F0F-AD7A-20ADD4BFEE1C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6814AE-0B7E-45D9-A2AF-1F96AC744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600CE4-B3A7-4000-A87F-5BAA62FAF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9E1087-8D6E-403A-A49A-F61820F4F2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809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FB91448-E5E9-4F60-AA87-7AC7E1F03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79DE959-5FF1-4AF1-819D-4EDA0C390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6630EB-0285-4945-80EE-FD905AF211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5D667-4043-4F0F-AD7A-20ADD4BFEE1C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44A144-DF80-47FE-9F59-2F21D41A40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CE28CF-8A36-48EB-AB56-2699DD2E0B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9E1087-8D6E-403A-A49A-F61820F4F2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8120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24000" b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395BE0A-1ECC-4A1C-AAC0-1AFD691AF6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35CCC3A-F669-4822-A703-39D72A78C078}"/>
              </a:ext>
            </a:extLst>
          </p:cNvPr>
          <p:cNvSpPr/>
          <p:nvPr/>
        </p:nvSpPr>
        <p:spPr>
          <a:xfrm>
            <a:off x="7384642" y="5142451"/>
            <a:ext cx="4807357" cy="17155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18E7E4F-4862-4777-804E-5ED977182538}"/>
              </a:ext>
            </a:extLst>
          </p:cNvPr>
          <p:cNvSpPr/>
          <p:nvPr/>
        </p:nvSpPr>
        <p:spPr>
          <a:xfrm>
            <a:off x="7441802" y="5213620"/>
            <a:ext cx="4693035" cy="15732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DA2D801-9A63-4566-99EA-3DE072D1A90C}"/>
              </a:ext>
            </a:extLst>
          </p:cNvPr>
          <p:cNvSpPr/>
          <p:nvPr/>
        </p:nvSpPr>
        <p:spPr>
          <a:xfrm>
            <a:off x="1971413" y="659023"/>
            <a:ext cx="8607910" cy="1056526"/>
          </a:xfrm>
          <a:prstGeom prst="rect">
            <a:avLst/>
          </a:prstGeom>
          <a:solidFill>
            <a:schemeClr val="dk1">
              <a:alpha val="5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D99EB8B-3862-453C-8C40-0BA941A1C546}"/>
              </a:ext>
            </a:extLst>
          </p:cNvPr>
          <p:cNvSpPr txBox="1"/>
          <p:nvPr/>
        </p:nvSpPr>
        <p:spPr>
          <a:xfrm>
            <a:off x="1916239" y="771787"/>
            <a:ext cx="83595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b="1" dirty="0">
                <a:solidFill>
                  <a:srgbClr val="E6F0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ギャラクシーシューター（仮</a:t>
            </a:r>
            <a:r>
              <a:rPr lang="en-US" altLang="ja-JP" sz="4800" b="1" dirty="0">
                <a:solidFill>
                  <a:srgbClr val="E6F0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)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87ECB8C-63DA-4FEA-BEA9-A54D39D6D5D1}"/>
              </a:ext>
            </a:extLst>
          </p:cNvPr>
          <p:cNvSpPr txBox="1"/>
          <p:nvPr/>
        </p:nvSpPr>
        <p:spPr>
          <a:xfrm>
            <a:off x="7482979" y="5368953"/>
            <a:ext cx="46518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ジャンル　ハイスピード</a:t>
            </a:r>
            <a:r>
              <a:rPr kumimoji="1" lang="en-US" altLang="ja-JP" dirty="0"/>
              <a:t>3D</a:t>
            </a:r>
            <a:r>
              <a:rPr kumimoji="1" lang="ja-JP" altLang="en-US" dirty="0"/>
              <a:t>シューティング</a:t>
            </a:r>
            <a:endParaRPr kumimoji="1" lang="en-US" altLang="ja-JP" dirty="0"/>
          </a:p>
          <a:p>
            <a:r>
              <a:rPr lang="ja-JP" altLang="en-US" dirty="0"/>
              <a:t>対応機種　</a:t>
            </a:r>
            <a:r>
              <a:rPr lang="en-US" altLang="ja-JP" dirty="0"/>
              <a:t>Windows</a:t>
            </a:r>
          </a:p>
          <a:p>
            <a:r>
              <a:rPr lang="ja-JP" altLang="en-US" dirty="0"/>
              <a:t>プレイ人数　一人</a:t>
            </a:r>
            <a:endParaRPr lang="en-US" altLang="ja-JP" dirty="0"/>
          </a:p>
          <a:p>
            <a:r>
              <a:rPr lang="ja-JP" altLang="en-US" dirty="0"/>
              <a:t>制作環境　</a:t>
            </a:r>
            <a:r>
              <a:rPr lang="en-US" altLang="ja-JP" dirty="0"/>
              <a:t>C++</a:t>
            </a:r>
          </a:p>
          <a:p>
            <a:r>
              <a:rPr kumimoji="1" lang="ja-JP" altLang="en-US" dirty="0"/>
              <a:t>制作　</a:t>
            </a:r>
            <a:r>
              <a:rPr lang="ja-JP" altLang="en-US" dirty="0"/>
              <a:t>新谷　琥太郎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91357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24000" b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395BE0A-1ECC-4A1C-AAC0-1AFD691AF6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87ECB8C-63DA-4FEA-BEA9-A54D39D6D5D1}"/>
              </a:ext>
            </a:extLst>
          </p:cNvPr>
          <p:cNvSpPr txBox="1"/>
          <p:nvPr/>
        </p:nvSpPr>
        <p:spPr>
          <a:xfrm>
            <a:off x="3533071" y="5414373"/>
            <a:ext cx="85286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ジャンル　ハイスピード</a:t>
            </a:r>
            <a:r>
              <a:rPr kumimoji="1" lang="en-US" altLang="ja-JP" dirty="0"/>
              <a:t>3D</a:t>
            </a:r>
            <a:r>
              <a:rPr kumimoji="1" lang="ja-JP" altLang="en-US" dirty="0"/>
              <a:t>シューティング</a:t>
            </a:r>
            <a:endParaRPr kumimoji="1" lang="en-US" altLang="ja-JP" dirty="0"/>
          </a:p>
          <a:p>
            <a:r>
              <a:rPr lang="ja-JP" altLang="en-US" dirty="0"/>
              <a:t>対応機種　</a:t>
            </a:r>
            <a:r>
              <a:rPr lang="en-US" altLang="ja-JP" dirty="0"/>
              <a:t>Windows</a:t>
            </a:r>
          </a:p>
          <a:p>
            <a:r>
              <a:rPr lang="ja-JP" altLang="en-US" dirty="0"/>
              <a:t>プレイ人数　一人</a:t>
            </a:r>
            <a:r>
              <a:rPr kumimoji="1" lang="ja-JP" altLang="en-US" dirty="0"/>
              <a:t>制作　</a:t>
            </a:r>
            <a:r>
              <a:rPr lang="ja-JP" altLang="en-US" dirty="0"/>
              <a:t>新谷　琥太郎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2AD528E-9E12-4F1A-A71C-B8CB0EE2629E}"/>
              </a:ext>
            </a:extLst>
          </p:cNvPr>
          <p:cNvSpPr/>
          <p:nvPr/>
        </p:nvSpPr>
        <p:spPr>
          <a:xfrm>
            <a:off x="254000" y="1402080"/>
            <a:ext cx="11684000" cy="545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6BE96F1-3F0B-450A-807B-5D1977B9C5FE}"/>
              </a:ext>
            </a:extLst>
          </p:cNvPr>
          <p:cNvSpPr/>
          <p:nvPr/>
        </p:nvSpPr>
        <p:spPr>
          <a:xfrm>
            <a:off x="345441" y="1513840"/>
            <a:ext cx="11501118" cy="5232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538FEA1-9940-495A-A964-093458DCCA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634"/>
            <a:ext cx="1727200" cy="1107566"/>
          </a:xfrm>
          <a:prstGeom prst="rect">
            <a:avLst/>
          </a:prstGeom>
        </p:spPr>
      </p:pic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615A100-C811-48F4-B2BA-812ACCA6952F}"/>
              </a:ext>
            </a:extLst>
          </p:cNvPr>
          <p:cNvSpPr/>
          <p:nvPr/>
        </p:nvSpPr>
        <p:spPr>
          <a:xfrm>
            <a:off x="3982720" y="238634"/>
            <a:ext cx="3870960" cy="1107566"/>
          </a:xfrm>
          <a:prstGeom prst="rect">
            <a:avLst/>
          </a:prstGeom>
          <a:solidFill>
            <a:schemeClr val="dk1">
              <a:alpha val="5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F1514CA-A6B8-4FA5-B935-2CB852419D6C}"/>
              </a:ext>
            </a:extLst>
          </p:cNvPr>
          <p:cNvSpPr txBox="1"/>
          <p:nvPr/>
        </p:nvSpPr>
        <p:spPr>
          <a:xfrm>
            <a:off x="4216400" y="402438"/>
            <a:ext cx="34340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b="1" dirty="0">
                <a:solidFill>
                  <a:srgbClr val="E6F0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コンセプト</a:t>
            </a:r>
            <a:endParaRPr lang="en-US" altLang="ja-JP" sz="4800" b="1" dirty="0">
              <a:solidFill>
                <a:srgbClr val="E6F0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D399808-8307-4946-B367-ABC08D5E9343}"/>
              </a:ext>
            </a:extLst>
          </p:cNvPr>
          <p:cNvSpPr txBox="1"/>
          <p:nvPr/>
        </p:nvSpPr>
        <p:spPr>
          <a:xfrm>
            <a:off x="345441" y="4463762"/>
            <a:ext cx="34227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一言で言うと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2E90692-F423-4AD7-A911-C2B757FE185A}"/>
              </a:ext>
            </a:extLst>
          </p:cNvPr>
          <p:cNvSpPr/>
          <p:nvPr/>
        </p:nvSpPr>
        <p:spPr>
          <a:xfrm>
            <a:off x="345441" y="5068502"/>
            <a:ext cx="11501118" cy="167779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広大な宇宙を駆け巡りながら危険を撃ち落とす</a:t>
            </a:r>
            <a:endParaRPr kumimoji="1" lang="en-US" altLang="ja-JP" sz="3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kumimoji="1" lang="en-US" altLang="ja-JP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3D</a:t>
            </a:r>
            <a:r>
              <a:rPr kumimoji="1" lang="ja-JP" altLang="en-US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シューティングゲーム</a:t>
            </a:r>
          </a:p>
          <a:p>
            <a:pPr algn="ctr"/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EAF36E4-26FA-4949-BD9A-8E563E56C0D8}"/>
              </a:ext>
            </a:extLst>
          </p:cNvPr>
          <p:cNvSpPr txBox="1"/>
          <p:nvPr/>
        </p:nvSpPr>
        <p:spPr>
          <a:xfrm>
            <a:off x="536895" y="1812022"/>
            <a:ext cx="111238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プレイヤーが宇宙防衛軍の隊員となり、宇宙の様々な座標に発生した異変へ宇宙船で向かい、広大な宇宙を探索しアイテムを集めて敵を倒しまくる</a:t>
            </a:r>
          </a:p>
        </p:txBody>
      </p:sp>
      <p:sp>
        <p:nvSpPr>
          <p:cNvPr id="2" name="矢印: 下 1">
            <a:extLst>
              <a:ext uri="{FF2B5EF4-FFF2-40B4-BE49-F238E27FC236}">
                <a16:creationId xmlns:a16="http://schemas.microsoft.com/office/drawing/2014/main" id="{F779C009-4671-49EB-8AFA-306C2CBAC8CB}"/>
              </a:ext>
            </a:extLst>
          </p:cNvPr>
          <p:cNvSpPr/>
          <p:nvPr/>
        </p:nvSpPr>
        <p:spPr>
          <a:xfrm>
            <a:off x="5512733" y="2715161"/>
            <a:ext cx="402671" cy="62078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421D070-0AC3-4212-B47A-0FD329C93F9D}"/>
              </a:ext>
            </a:extLst>
          </p:cNvPr>
          <p:cNvSpPr txBox="1"/>
          <p:nvPr/>
        </p:nvSpPr>
        <p:spPr>
          <a:xfrm>
            <a:off x="534099" y="3347224"/>
            <a:ext cx="111238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/>
              <a:t>宇宙防衛軍になった感覚を味わえて、マップを探索する楽しさと敵を倒す爽快感が体験できる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43230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24000" b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395BE0A-1ECC-4A1C-AAC0-1AFD691AF6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87ECB8C-63DA-4FEA-BEA9-A54D39D6D5D1}"/>
              </a:ext>
            </a:extLst>
          </p:cNvPr>
          <p:cNvSpPr txBox="1"/>
          <p:nvPr/>
        </p:nvSpPr>
        <p:spPr>
          <a:xfrm>
            <a:off x="3533071" y="5414373"/>
            <a:ext cx="85286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ジャンル　ハイスピード</a:t>
            </a:r>
            <a:r>
              <a:rPr kumimoji="1" lang="en-US" altLang="ja-JP" dirty="0"/>
              <a:t>3D</a:t>
            </a:r>
            <a:r>
              <a:rPr kumimoji="1" lang="ja-JP" altLang="en-US" dirty="0"/>
              <a:t>シューティング</a:t>
            </a:r>
            <a:endParaRPr kumimoji="1" lang="en-US" altLang="ja-JP" dirty="0"/>
          </a:p>
          <a:p>
            <a:r>
              <a:rPr lang="ja-JP" altLang="en-US" dirty="0"/>
              <a:t>対応機種　</a:t>
            </a:r>
            <a:r>
              <a:rPr lang="en-US" altLang="ja-JP" dirty="0"/>
              <a:t>Windows</a:t>
            </a:r>
          </a:p>
          <a:p>
            <a:r>
              <a:rPr lang="ja-JP" altLang="en-US" dirty="0"/>
              <a:t>プレイ人数　一人</a:t>
            </a:r>
            <a:r>
              <a:rPr kumimoji="1" lang="ja-JP" altLang="en-US" dirty="0"/>
              <a:t>制作　</a:t>
            </a:r>
            <a:r>
              <a:rPr lang="ja-JP" altLang="en-US" dirty="0"/>
              <a:t>新谷　琥太郎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2AD528E-9E12-4F1A-A71C-B8CB0EE2629E}"/>
              </a:ext>
            </a:extLst>
          </p:cNvPr>
          <p:cNvSpPr/>
          <p:nvPr/>
        </p:nvSpPr>
        <p:spPr>
          <a:xfrm>
            <a:off x="254000" y="1402080"/>
            <a:ext cx="11684000" cy="545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6BE96F1-3F0B-450A-807B-5D1977B9C5FE}"/>
              </a:ext>
            </a:extLst>
          </p:cNvPr>
          <p:cNvSpPr/>
          <p:nvPr/>
        </p:nvSpPr>
        <p:spPr>
          <a:xfrm>
            <a:off x="345441" y="1513840"/>
            <a:ext cx="11501118" cy="5232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22EDEC1-DFD4-4917-998A-4C09B2033B08}"/>
              </a:ext>
            </a:extLst>
          </p:cNvPr>
          <p:cNvSpPr/>
          <p:nvPr/>
        </p:nvSpPr>
        <p:spPr>
          <a:xfrm>
            <a:off x="3982720" y="238634"/>
            <a:ext cx="3870960" cy="1107566"/>
          </a:xfrm>
          <a:prstGeom prst="rect">
            <a:avLst/>
          </a:prstGeom>
          <a:solidFill>
            <a:schemeClr val="dk1">
              <a:alpha val="5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1DB33C5-A5DA-404D-85DC-7942780A091B}"/>
              </a:ext>
            </a:extLst>
          </p:cNvPr>
          <p:cNvSpPr txBox="1"/>
          <p:nvPr/>
        </p:nvSpPr>
        <p:spPr>
          <a:xfrm>
            <a:off x="4216400" y="402438"/>
            <a:ext cx="34340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b="1" dirty="0">
                <a:solidFill>
                  <a:srgbClr val="E6F0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ターゲット</a:t>
            </a:r>
            <a:endParaRPr lang="en-US" altLang="ja-JP" sz="4800" b="1" dirty="0">
              <a:solidFill>
                <a:srgbClr val="E6F0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8AA6A559-E49D-4DFE-8B1E-E31A54CE08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238634"/>
            <a:ext cx="1727200" cy="1107566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360A623-179A-4CD8-A875-BF0756AC6D1D}"/>
              </a:ext>
            </a:extLst>
          </p:cNvPr>
          <p:cNvSpPr txBox="1"/>
          <p:nvPr/>
        </p:nvSpPr>
        <p:spPr>
          <a:xfrm>
            <a:off x="518160" y="1757680"/>
            <a:ext cx="72440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/>
              <a:t>年齢　</a:t>
            </a:r>
            <a:r>
              <a:rPr kumimoji="1" lang="en-US" altLang="ja-JP" sz="3600" dirty="0"/>
              <a:t>20~24</a:t>
            </a:r>
            <a:r>
              <a:rPr kumimoji="1" lang="ja-JP" altLang="en-US" sz="3600" dirty="0"/>
              <a:t>歳</a:t>
            </a:r>
            <a:endParaRPr kumimoji="1" lang="en-US" altLang="ja-JP" sz="3600" dirty="0"/>
          </a:p>
          <a:p>
            <a:r>
              <a:rPr kumimoji="1" lang="ja-JP" altLang="en-US" sz="3600" dirty="0"/>
              <a:t>性別　男性</a:t>
            </a:r>
            <a:endParaRPr kumimoji="1" lang="en-US" altLang="ja-JP" sz="3600" dirty="0"/>
          </a:p>
          <a:p>
            <a:r>
              <a:rPr lang="ja-JP" altLang="en-US" sz="3600" dirty="0"/>
              <a:t>・</a:t>
            </a:r>
            <a:r>
              <a:rPr lang="en-US" altLang="ja-JP" sz="3600" dirty="0"/>
              <a:t>FPS</a:t>
            </a:r>
            <a:r>
              <a:rPr lang="ja-JP" altLang="en-US" sz="3600" dirty="0"/>
              <a:t>、</a:t>
            </a:r>
            <a:r>
              <a:rPr lang="en-US" altLang="ja-JP" sz="3600" dirty="0"/>
              <a:t>TPS</a:t>
            </a:r>
            <a:r>
              <a:rPr lang="ja-JP" altLang="en-US" sz="3600" dirty="0"/>
              <a:t>が好きな人</a:t>
            </a:r>
            <a:endParaRPr lang="en-US" altLang="ja-JP" sz="3600" dirty="0"/>
          </a:p>
          <a:p>
            <a:r>
              <a:rPr kumimoji="1" lang="ja-JP" altLang="en-US" sz="3600" dirty="0"/>
              <a:t>・宇宙が好きな人</a:t>
            </a:r>
            <a:endParaRPr kumimoji="1" lang="en-US" altLang="ja-JP" sz="3600" dirty="0"/>
          </a:p>
        </p:txBody>
      </p:sp>
    </p:spTree>
    <p:extLst>
      <p:ext uri="{BB962C8B-B14F-4D97-AF65-F5344CB8AC3E}">
        <p14:creationId xmlns:p14="http://schemas.microsoft.com/office/powerpoint/2010/main" val="1583651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24000" b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395BE0A-1ECC-4A1C-AAC0-1AFD691AF6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87ECB8C-63DA-4FEA-BEA9-A54D39D6D5D1}"/>
              </a:ext>
            </a:extLst>
          </p:cNvPr>
          <p:cNvSpPr txBox="1"/>
          <p:nvPr/>
        </p:nvSpPr>
        <p:spPr>
          <a:xfrm>
            <a:off x="3533071" y="5414373"/>
            <a:ext cx="85286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ジャンル　ハイスピード</a:t>
            </a:r>
            <a:r>
              <a:rPr kumimoji="1" lang="en-US" altLang="ja-JP" dirty="0"/>
              <a:t>3D</a:t>
            </a:r>
            <a:r>
              <a:rPr kumimoji="1" lang="ja-JP" altLang="en-US" dirty="0"/>
              <a:t>シューティング</a:t>
            </a:r>
            <a:endParaRPr kumimoji="1" lang="en-US" altLang="ja-JP" dirty="0"/>
          </a:p>
          <a:p>
            <a:r>
              <a:rPr lang="ja-JP" altLang="en-US" dirty="0"/>
              <a:t>対応機種　</a:t>
            </a:r>
            <a:r>
              <a:rPr lang="en-US" altLang="ja-JP" dirty="0"/>
              <a:t>Windows</a:t>
            </a:r>
          </a:p>
          <a:p>
            <a:r>
              <a:rPr lang="ja-JP" altLang="en-US" dirty="0"/>
              <a:t>プレイ人数　一人</a:t>
            </a:r>
            <a:r>
              <a:rPr kumimoji="1" lang="ja-JP" altLang="en-US" dirty="0"/>
              <a:t>制作　</a:t>
            </a:r>
            <a:r>
              <a:rPr lang="ja-JP" altLang="en-US" dirty="0"/>
              <a:t>新谷　琥太郎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2AD528E-9E12-4F1A-A71C-B8CB0EE2629E}"/>
              </a:ext>
            </a:extLst>
          </p:cNvPr>
          <p:cNvSpPr/>
          <p:nvPr/>
        </p:nvSpPr>
        <p:spPr>
          <a:xfrm>
            <a:off x="254000" y="1402080"/>
            <a:ext cx="11684000" cy="545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6BE96F1-3F0B-450A-807B-5D1977B9C5FE}"/>
              </a:ext>
            </a:extLst>
          </p:cNvPr>
          <p:cNvSpPr/>
          <p:nvPr/>
        </p:nvSpPr>
        <p:spPr>
          <a:xfrm>
            <a:off x="345441" y="1513840"/>
            <a:ext cx="11501118" cy="5232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22EDEC1-DFD4-4917-998A-4C09B2033B08}"/>
              </a:ext>
            </a:extLst>
          </p:cNvPr>
          <p:cNvSpPr/>
          <p:nvPr/>
        </p:nvSpPr>
        <p:spPr>
          <a:xfrm>
            <a:off x="3982720" y="238634"/>
            <a:ext cx="3870960" cy="1107566"/>
          </a:xfrm>
          <a:prstGeom prst="rect">
            <a:avLst/>
          </a:prstGeom>
          <a:solidFill>
            <a:schemeClr val="dk1">
              <a:alpha val="5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1DB33C5-A5DA-404D-85DC-7942780A091B}"/>
              </a:ext>
            </a:extLst>
          </p:cNvPr>
          <p:cNvSpPr txBox="1"/>
          <p:nvPr/>
        </p:nvSpPr>
        <p:spPr>
          <a:xfrm>
            <a:off x="4216400" y="402438"/>
            <a:ext cx="34340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b="1" dirty="0">
                <a:solidFill>
                  <a:srgbClr val="E6F0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ターゲット</a:t>
            </a:r>
            <a:endParaRPr lang="en-US" altLang="ja-JP" sz="4800" b="1" dirty="0">
              <a:solidFill>
                <a:srgbClr val="E6F0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8AA6A559-E49D-4DFE-8B1E-E31A54CE08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238634"/>
            <a:ext cx="1727200" cy="1107566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60F0414-DAE5-49E6-B0D1-51E18AD438B0}"/>
              </a:ext>
            </a:extLst>
          </p:cNvPr>
          <p:cNvSpPr txBox="1"/>
          <p:nvPr/>
        </p:nvSpPr>
        <p:spPr>
          <a:xfrm>
            <a:off x="437719" y="1833423"/>
            <a:ext cx="565828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/>
              <a:t>・</a:t>
            </a:r>
            <a:r>
              <a:rPr kumimoji="1" lang="en-US" altLang="ja-JP" sz="3600" dirty="0"/>
              <a:t>25~29</a:t>
            </a:r>
            <a:r>
              <a:rPr kumimoji="1" lang="ja-JP" altLang="en-US" sz="3600" dirty="0"/>
              <a:t>歳に次いで</a:t>
            </a:r>
            <a:r>
              <a:rPr kumimoji="1" lang="en-US" altLang="ja-JP" sz="3600" dirty="0"/>
              <a:t>2</a:t>
            </a:r>
            <a:r>
              <a:rPr kumimoji="1" lang="ja-JP" altLang="en-US" sz="3600" dirty="0"/>
              <a:t>番目にゲームをしている割合が高い（</a:t>
            </a:r>
            <a:r>
              <a:rPr kumimoji="1" lang="en-US" altLang="ja-JP" sz="3600" dirty="0">
                <a:solidFill>
                  <a:schemeClr val="accent1"/>
                </a:solidFill>
              </a:rPr>
              <a:t>21.8%</a:t>
            </a:r>
            <a:r>
              <a:rPr kumimoji="1" lang="ja-JP" altLang="en-US" sz="3600" dirty="0"/>
              <a:t>）</a:t>
            </a:r>
            <a:endParaRPr kumimoji="1" lang="en-US" altLang="ja-JP" sz="3600" dirty="0"/>
          </a:p>
          <a:p>
            <a:endParaRPr kumimoji="1" lang="en-US" altLang="ja-JP" sz="3600" dirty="0"/>
          </a:p>
          <a:p>
            <a:r>
              <a:rPr lang="ja-JP" altLang="en-US" sz="3600" dirty="0"/>
              <a:t>・</a:t>
            </a:r>
            <a:r>
              <a:rPr lang="en-US" altLang="ja-JP" sz="3600" dirty="0"/>
              <a:t>FPS</a:t>
            </a:r>
            <a:r>
              <a:rPr lang="ja-JP" altLang="en-US" sz="3600" dirty="0"/>
              <a:t>をよくしている年齢</a:t>
            </a:r>
            <a:endParaRPr lang="en-US" altLang="ja-JP" sz="3600" dirty="0"/>
          </a:p>
          <a:p>
            <a:r>
              <a:rPr kumimoji="1" lang="ja-JP" altLang="en-US" sz="3600" dirty="0"/>
              <a:t>が</a:t>
            </a:r>
            <a:r>
              <a:rPr kumimoji="1" lang="en-US" altLang="ja-JP" sz="3600" dirty="0"/>
              <a:t>10</a:t>
            </a:r>
            <a:r>
              <a:rPr kumimoji="1" lang="ja-JP" altLang="en-US" sz="3600" dirty="0"/>
              <a:t>代から</a:t>
            </a:r>
            <a:r>
              <a:rPr kumimoji="1" lang="en-US" altLang="ja-JP" sz="3600" dirty="0"/>
              <a:t>20</a:t>
            </a:r>
            <a:r>
              <a:rPr kumimoji="1" lang="ja-JP" altLang="en-US" sz="3600" dirty="0"/>
              <a:t>代前半</a:t>
            </a:r>
            <a:endParaRPr kumimoji="1" lang="en-US" altLang="ja-JP" sz="3600" dirty="0"/>
          </a:p>
          <a:p>
            <a:endParaRPr kumimoji="1" lang="ja-JP" altLang="en-US" sz="3600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C2E59C00-2217-4348-92D7-1F0F9BFA90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4572" y="1584834"/>
            <a:ext cx="5881987" cy="5144145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A6AB060-575A-40CC-BED0-CCB99E8CF564}"/>
              </a:ext>
            </a:extLst>
          </p:cNvPr>
          <p:cNvSpPr txBox="1"/>
          <p:nvPr/>
        </p:nvSpPr>
        <p:spPr>
          <a:xfrm>
            <a:off x="6729369" y="1602590"/>
            <a:ext cx="4483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ゲームをしている割合（年齢）</a:t>
            </a:r>
          </a:p>
        </p:txBody>
      </p:sp>
      <p:sp>
        <p:nvSpPr>
          <p:cNvPr id="18" name="円: 塗りつぶしなし 17">
            <a:extLst>
              <a:ext uri="{FF2B5EF4-FFF2-40B4-BE49-F238E27FC236}">
                <a16:creationId xmlns:a16="http://schemas.microsoft.com/office/drawing/2014/main" id="{9B57AF54-0022-4784-956B-7CD274690AEF}"/>
              </a:ext>
            </a:extLst>
          </p:cNvPr>
          <p:cNvSpPr/>
          <p:nvPr/>
        </p:nvSpPr>
        <p:spPr>
          <a:xfrm>
            <a:off x="10495280" y="3682767"/>
            <a:ext cx="871803" cy="671120"/>
          </a:xfrm>
          <a:prstGeom prst="donut">
            <a:avLst>
              <a:gd name="adj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0E4C0D3-932A-4541-B312-B36D74CA7B34}"/>
              </a:ext>
            </a:extLst>
          </p:cNvPr>
          <p:cNvSpPr txBox="1"/>
          <p:nvPr/>
        </p:nvSpPr>
        <p:spPr>
          <a:xfrm>
            <a:off x="10363852" y="4424414"/>
            <a:ext cx="1351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ターゲット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00344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24000" b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395BE0A-1ECC-4A1C-AAC0-1AFD691AF6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87ECB8C-63DA-4FEA-BEA9-A54D39D6D5D1}"/>
              </a:ext>
            </a:extLst>
          </p:cNvPr>
          <p:cNvSpPr txBox="1"/>
          <p:nvPr/>
        </p:nvSpPr>
        <p:spPr>
          <a:xfrm>
            <a:off x="3533071" y="5414373"/>
            <a:ext cx="85286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ジャンル　ハイスピード</a:t>
            </a:r>
            <a:r>
              <a:rPr kumimoji="1" lang="en-US" altLang="ja-JP" dirty="0"/>
              <a:t>3D</a:t>
            </a:r>
            <a:r>
              <a:rPr kumimoji="1" lang="ja-JP" altLang="en-US" dirty="0"/>
              <a:t>シューティング</a:t>
            </a:r>
            <a:endParaRPr kumimoji="1" lang="en-US" altLang="ja-JP" dirty="0"/>
          </a:p>
          <a:p>
            <a:r>
              <a:rPr lang="ja-JP" altLang="en-US" dirty="0"/>
              <a:t>対応機種　</a:t>
            </a:r>
            <a:r>
              <a:rPr lang="en-US" altLang="ja-JP" dirty="0"/>
              <a:t>Windows</a:t>
            </a:r>
          </a:p>
          <a:p>
            <a:r>
              <a:rPr lang="ja-JP" altLang="en-US" dirty="0"/>
              <a:t>プレイ人数　一人</a:t>
            </a:r>
            <a:r>
              <a:rPr kumimoji="1" lang="ja-JP" altLang="en-US" dirty="0"/>
              <a:t>制作　</a:t>
            </a:r>
            <a:r>
              <a:rPr lang="ja-JP" altLang="en-US" dirty="0"/>
              <a:t>新谷　琥太郎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2AD528E-9E12-4F1A-A71C-B8CB0EE2629E}"/>
              </a:ext>
            </a:extLst>
          </p:cNvPr>
          <p:cNvSpPr/>
          <p:nvPr/>
        </p:nvSpPr>
        <p:spPr>
          <a:xfrm>
            <a:off x="254000" y="1402080"/>
            <a:ext cx="11684000" cy="545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6BE96F1-3F0B-450A-807B-5D1977B9C5FE}"/>
              </a:ext>
            </a:extLst>
          </p:cNvPr>
          <p:cNvSpPr/>
          <p:nvPr/>
        </p:nvSpPr>
        <p:spPr>
          <a:xfrm>
            <a:off x="345441" y="1513840"/>
            <a:ext cx="11501118" cy="5232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22EDEC1-DFD4-4917-998A-4C09B2033B08}"/>
              </a:ext>
            </a:extLst>
          </p:cNvPr>
          <p:cNvSpPr/>
          <p:nvPr/>
        </p:nvSpPr>
        <p:spPr>
          <a:xfrm>
            <a:off x="3533071" y="213601"/>
            <a:ext cx="4808942" cy="1107566"/>
          </a:xfrm>
          <a:prstGeom prst="rect">
            <a:avLst/>
          </a:prstGeom>
          <a:solidFill>
            <a:schemeClr val="dk1">
              <a:alpha val="5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1DB33C5-A5DA-404D-85DC-7942780A091B}"/>
              </a:ext>
            </a:extLst>
          </p:cNvPr>
          <p:cNvSpPr txBox="1"/>
          <p:nvPr/>
        </p:nvSpPr>
        <p:spPr>
          <a:xfrm>
            <a:off x="3981276" y="379713"/>
            <a:ext cx="39125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b="1" dirty="0">
                <a:solidFill>
                  <a:srgbClr val="E6F0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ゲームの特徴</a:t>
            </a:r>
            <a:endParaRPr lang="en-US" altLang="ja-JP" sz="4800" b="1" dirty="0">
              <a:solidFill>
                <a:srgbClr val="E6F0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8AA6A559-E49D-4DFE-8B1E-E31A54CE08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806" y="213601"/>
            <a:ext cx="1727200" cy="1107566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60F0414-DAE5-49E6-B0D1-51E18AD438B0}"/>
              </a:ext>
            </a:extLst>
          </p:cNvPr>
          <p:cNvSpPr txBox="1"/>
          <p:nvPr/>
        </p:nvSpPr>
        <p:spPr>
          <a:xfrm>
            <a:off x="437719" y="1837986"/>
            <a:ext cx="973812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/>
              <a:t>・特徴①</a:t>
            </a:r>
            <a:endParaRPr kumimoji="1" lang="en-US" altLang="ja-JP" sz="3600" dirty="0"/>
          </a:p>
          <a:p>
            <a:r>
              <a:rPr lang="ja-JP" altLang="en-US" sz="3600" dirty="0"/>
              <a:t>　</a:t>
            </a:r>
            <a:r>
              <a:rPr lang="ja-JP" altLang="en-US" sz="3600" dirty="0">
                <a:solidFill>
                  <a:srgbClr val="FF0000"/>
                </a:solidFill>
              </a:rPr>
              <a:t>ハイスピード</a:t>
            </a:r>
            <a:r>
              <a:rPr lang="ja-JP" altLang="en-US" sz="3600" dirty="0"/>
              <a:t>なバトル</a:t>
            </a:r>
            <a:endParaRPr lang="en-US" altLang="ja-JP" sz="3600" dirty="0"/>
          </a:p>
          <a:p>
            <a:r>
              <a:rPr kumimoji="1" lang="ja-JP" altLang="en-US" sz="3600" dirty="0"/>
              <a:t>・特徴②</a:t>
            </a:r>
            <a:endParaRPr kumimoji="1" lang="en-US" altLang="ja-JP" sz="3600" dirty="0"/>
          </a:p>
          <a:p>
            <a:r>
              <a:rPr lang="ja-JP" altLang="en-US" sz="3600" dirty="0"/>
              <a:t>　</a:t>
            </a:r>
            <a:r>
              <a:rPr lang="ja-JP" altLang="en-US" sz="3600" dirty="0">
                <a:solidFill>
                  <a:srgbClr val="FF0000"/>
                </a:solidFill>
              </a:rPr>
              <a:t>巨大</a:t>
            </a:r>
            <a:r>
              <a:rPr lang="ja-JP" altLang="en-US" sz="3600" dirty="0"/>
              <a:t>なボス</a:t>
            </a:r>
            <a:endParaRPr lang="en-US" altLang="ja-JP" sz="3600" dirty="0"/>
          </a:p>
          <a:p>
            <a:r>
              <a:rPr kumimoji="1" lang="ja-JP" altLang="en-US" sz="3600" dirty="0"/>
              <a:t>・特徴③</a:t>
            </a:r>
            <a:endParaRPr kumimoji="1" lang="en-US" altLang="ja-JP" sz="3600" dirty="0"/>
          </a:p>
          <a:p>
            <a:r>
              <a:rPr lang="ja-JP" altLang="en-US" sz="3600" dirty="0"/>
              <a:t>　</a:t>
            </a:r>
            <a:r>
              <a:rPr lang="ja-JP" altLang="en-US" sz="3600" dirty="0">
                <a:solidFill>
                  <a:srgbClr val="FF0000"/>
                </a:solidFill>
              </a:rPr>
              <a:t>時空間移動</a:t>
            </a:r>
            <a:r>
              <a:rPr lang="ja-JP" altLang="en-US" sz="3600" dirty="0"/>
              <a:t>システム</a:t>
            </a:r>
            <a:endParaRPr kumimoji="1" lang="en-US" altLang="ja-JP" sz="3600" dirty="0"/>
          </a:p>
          <a:p>
            <a:r>
              <a:rPr kumimoji="1" lang="ja-JP" altLang="en-US" sz="3600" dirty="0"/>
              <a:t>・特徴④</a:t>
            </a:r>
            <a:endParaRPr kumimoji="1" lang="en-US" altLang="ja-JP" sz="3600" dirty="0"/>
          </a:p>
          <a:p>
            <a:r>
              <a:rPr lang="ja-JP" altLang="en-US" sz="3600" dirty="0"/>
              <a:t>　</a:t>
            </a:r>
            <a:r>
              <a:rPr lang="ja-JP" altLang="en-US" sz="3600" dirty="0">
                <a:solidFill>
                  <a:srgbClr val="FF0000"/>
                </a:solidFill>
              </a:rPr>
              <a:t>パワーアップ</a:t>
            </a:r>
            <a:r>
              <a:rPr lang="ja-JP" altLang="en-US" sz="3600" dirty="0"/>
              <a:t>システム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221579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24000" b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395BE0A-1ECC-4A1C-AAC0-1AFD691AF6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87ECB8C-63DA-4FEA-BEA9-A54D39D6D5D1}"/>
              </a:ext>
            </a:extLst>
          </p:cNvPr>
          <p:cNvSpPr txBox="1"/>
          <p:nvPr/>
        </p:nvSpPr>
        <p:spPr>
          <a:xfrm>
            <a:off x="3533071" y="5414373"/>
            <a:ext cx="85286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ジャンル　ハイスピード</a:t>
            </a:r>
            <a:r>
              <a:rPr kumimoji="1" lang="en-US" altLang="ja-JP" dirty="0"/>
              <a:t>3D</a:t>
            </a:r>
            <a:r>
              <a:rPr kumimoji="1" lang="ja-JP" altLang="en-US" dirty="0"/>
              <a:t>シューティング</a:t>
            </a:r>
            <a:endParaRPr kumimoji="1" lang="en-US" altLang="ja-JP" dirty="0"/>
          </a:p>
          <a:p>
            <a:r>
              <a:rPr lang="ja-JP" altLang="en-US" dirty="0"/>
              <a:t>対応機種　</a:t>
            </a:r>
            <a:r>
              <a:rPr lang="en-US" altLang="ja-JP" dirty="0"/>
              <a:t>Windows</a:t>
            </a:r>
          </a:p>
          <a:p>
            <a:r>
              <a:rPr lang="ja-JP" altLang="en-US" dirty="0"/>
              <a:t>プレイ人数　一人</a:t>
            </a:r>
            <a:r>
              <a:rPr kumimoji="1" lang="ja-JP" altLang="en-US" dirty="0"/>
              <a:t>制作　</a:t>
            </a:r>
            <a:r>
              <a:rPr lang="ja-JP" altLang="en-US" dirty="0"/>
              <a:t>新谷　琥太郎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2AD528E-9E12-4F1A-A71C-B8CB0EE2629E}"/>
              </a:ext>
            </a:extLst>
          </p:cNvPr>
          <p:cNvSpPr/>
          <p:nvPr/>
        </p:nvSpPr>
        <p:spPr>
          <a:xfrm>
            <a:off x="254000" y="1402080"/>
            <a:ext cx="11684000" cy="545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6BE96F1-3F0B-450A-807B-5D1977B9C5FE}"/>
              </a:ext>
            </a:extLst>
          </p:cNvPr>
          <p:cNvSpPr/>
          <p:nvPr/>
        </p:nvSpPr>
        <p:spPr>
          <a:xfrm>
            <a:off x="345441" y="1534768"/>
            <a:ext cx="11501118" cy="5232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22EDEC1-DFD4-4917-998A-4C09B2033B08}"/>
              </a:ext>
            </a:extLst>
          </p:cNvPr>
          <p:cNvSpPr/>
          <p:nvPr/>
        </p:nvSpPr>
        <p:spPr>
          <a:xfrm>
            <a:off x="3533071" y="213601"/>
            <a:ext cx="4808942" cy="1107566"/>
          </a:xfrm>
          <a:prstGeom prst="rect">
            <a:avLst/>
          </a:prstGeom>
          <a:solidFill>
            <a:schemeClr val="dk1">
              <a:alpha val="5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1DB33C5-A5DA-404D-85DC-7942780A091B}"/>
              </a:ext>
            </a:extLst>
          </p:cNvPr>
          <p:cNvSpPr txBox="1"/>
          <p:nvPr/>
        </p:nvSpPr>
        <p:spPr>
          <a:xfrm>
            <a:off x="3981276" y="379713"/>
            <a:ext cx="39125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b="1" dirty="0">
                <a:solidFill>
                  <a:srgbClr val="E6F0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ゲームの特徴</a:t>
            </a:r>
            <a:endParaRPr lang="en-US" altLang="ja-JP" sz="4800" b="1" dirty="0">
              <a:solidFill>
                <a:srgbClr val="E6F0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8AA6A559-E49D-4DFE-8B1E-E31A54CE08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806" y="213601"/>
            <a:ext cx="1727200" cy="1107566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60F0414-DAE5-49E6-B0D1-51E18AD438B0}"/>
              </a:ext>
            </a:extLst>
          </p:cNvPr>
          <p:cNvSpPr txBox="1"/>
          <p:nvPr/>
        </p:nvSpPr>
        <p:spPr>
          <a:xfrm>
            <a:off x="437719" y="1837986"/>
            <a:ext cx="608580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/>
              <a:t>・特徴①</a:t>
            </a:r>
            <a:endParaRPr kumimoji="1" lang="en-US" altLang="ja-JP" sz="3600" dirty="0"/>
          </a:p>
          <a:p>
            <a:r>
              <a:rPr lang="ja-JP" altLang="en-US" sz="3600" dirty="0"/>
              <a:t>　</a:t>
            </a:r>
            <a:r>
              <a:rPr lang="ja-JP" altLang="en-US" sz="3600" dirty="0">
                <a:solidFill>
                  <a:srgbClr val="FF0000"/>
                </a:solidFill>
              </a:rPr>
              <a:t>ハイスピード</a:t>
            </a:r>
            <a:r>
              <a:rPr lang="ja-JP" altLang="en-US" sz="3600" dirty="0"/>
              <a:t>なバトル</a:t>
            </a:r>
            <a:endParaRPr lang="en-US" altLang="ja-JP" sz="3600" dirty="0"/>
          </a:p>
          <a:p>
            <a:endParaRPr kumimoji="1" lang="en-US" altLang="ja-JP" sz="3600" dirty="0"/>
          </a:p>
          <a:p>
            <a:r>
              <a:rPr lang="ja-JP" altLang="en-US" sz="3600" dirty="0"/>
              <a:t>体力の低い敵が大量に出てくるので倒して次へ倒して次へ</a:t>
            </a:r>
            <a:r>
              <a:rPr lang="en-US" altLang="ja-JP" sz="3600" dirty="0"/>
              <a:t>…</a:t>
            </a:r>
            <a:r>
              <a:rPr lang="ja-JP" altLang="en-US" sz="3600" dirty="0"/>
              <a:t>とスピード感のいいバトルになっている</a:t>
            </a:r>
            <a:endParaRPr kumimoji="1" lang="ja-JP" altLang="en-US" sz="3600" dirty="0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27AD2C8A-2D2D-46D6-93F8-7CCB357280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9812" y="1943791"/>
            <a:ext cx="1783996" cy="1337997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EDEA2B7F-31A3-4263-B2BA-D9AD04FB16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9965" y="1746438"/>
            <a:ext cx="1641068" cy="1230801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EC4DD0C4-4CE3-4529-93F2-A0C37DF4E5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51588">
            <a:off x="6653836" y="2893165"/>
            <a:ext cx="2479944" cy="1859958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3BC8D183-4D30-49CD-9533-350F5CE545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4494" y="1899625"/>
            <a:ext cx="2196797" cy="1647598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681FC75B-62A8-4272-A915-D0147CECDB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85601">
            <a:off x="10050039" y="3064510"/>
            <a:ext cx="1641068" cy="1230801"/>
          </a:xfrm>
          <a:prstGeom prst="rect">
            <a:avLst/>
          </a:prstGeom>
        </p:spPr>
      </p:pic>
      <p:sp>
        <p:nvSpPr>
          <p:cNvPr id="19" name="フリーフォーム: 図形 18">
            <a:extLst>
              <a:ext uri="{FF2B5EF4-FFF2-40B4-BE49-F238E27FC236}">
                <a16:creationId xmlns:a16="http://schemas.microsoft.com/office/drawing/2014/main" id="{16BCDFE0-D0D6-47F8-828E-2227619EC42D}"/>
              </a:ext>
            </a:extLst>
          </p:cNvPr>
          <p:cNvSpPr/>
          <p:nvPr/>
        </p:nvSpPr>
        <p:spPr>
          <a:xfrm>
            <a:off x="7600950" y="2868930"/>
            <a:ext cx="95250" cy="521970"/>
          </a:xfrm>
          <a:custGeom>
            <a:avLst/>
            <a:gdLst>
              <a:gd name="connsiteX0" fmla="*/ 49530 w 95250"/>
              <a:gd name="connsiteY0" fmla="*/ 0 h 521970"/>
              <a:gd name="connsiteX1" fmla="*/ 83820 w 95250"/>
              <a:gd name="connsiteY1" fmla="*/ 22860 h 521970"/>
              <a:gd name="connsiteX2" fmla="*/ 87630 w 95250"/>
              <a:gd name="connsiteY2" fmla="*/ 49530 h 521970"/>
              <a:gd name="connsiteX3" fmla="*/ 95250 w 95250"/>
              <a:gd name="connsiteY3" fmla="*/ 72390 h 521970"/>
              <a:gd name="connsiteX4" fmla="*/ 91440 w 95250"/>
              <a:gd name="connsiteY4" fmla="*/ 194310 h 521970"/>
              <a:gd name="connsiteX5" fmla="*/ 68580 w 95250"/>
              <a:gd name="connsiteY5" fmla="*/ 240030 h 521970"/>
              <a:gd name="connsiteX6" fmla="*/ 49530 w 95250"/>
              <a:gd name="connsiteY6" fmla="*/ 274320 h 521970"/>
              <a:gd name="connsiteX7" fmla="*/ 45720 w 95250"/>
              <a:gd name="connsiteY7" fmla="*/ 285750 h 521970"/>
              <a:gd name="connsiteX8" fmla="*/ 11430 w 95250"/>
              <a:gd name="connsiteY8" fmla="*/ 350520 h 521970"/>
              <a:gd name="connsiteX9" fmla="*/ 0 w 95250"/>
              <a:gd name="connsiteY9" fmla="*/ 384810 h 521970"/>
              <a:gd name="connsiteX10" fmla="*/ 7620 w 95250"/>
              <a:gd name="connsiteY10" fmla="*/ 487680 h 521970"/>
              <a:gd name="connsiteX11" fmla="*/ 15240 w 95250"/>
              <a:gd name="connsiteY11" fmla="*/ 499110 h 521970"/>
              <a:gd name="connsiteX12" fmla="*/ 19050 w 95250"/>
              <a:gd name="connsiteY12" fmla="*/ 521970 h 521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5250" h="521970">
                <a:moveTo>
                  <a:pt x="49530" y="0"/>
                </a:moveTo>
                <a:cubicBezTo>
                  <a:pt x="60960" y="7620"/>
                  <a:pt x="75444" y="11972"/>
                  <a:pt x="83820" y="22860"/>
                </a:cubicBezTo>
                <a:cubicBezTo>
                  <a:pt x="89295" y="29978"/>
                  <a:pt x="85611" y="40780"/>
                  <a:pt x="87630" y="49530"/>
                </a:cubicBezTo>
                <a:cubicBezTo>
                  <a:pt x="89436" y="57356"/>
                  <a:pt x="92710" y="64770"/>
                  <a:pt x="95250" y="72390"/>
                </a:cubicBezTo>
                <a:cubicBezTo>
                  <a:pt x="93980" y="113030"/>
                  <a:pt x="95588" y="153862"/>
                  <a:pt x="91440" y="194310"/>
                </a:cubicBezTo>
                <a:cubicBezTo>
                  <a:pt x="89901" y="209312"/>
                  <a:pt x="75180" y="226831"/>
                  <a:pt x="68580" y="240030"/>
                </a:cubicBezTo>
                <a:cubicBezTo>
                  <a:pt x="51118" y="274954"/>
                  <a:pt x="72012" y="244344"/>
                  <a:pt x="49530" y="274320"/>
                </a:cubicBezTo>
                <a:cubicBezTo>
                  <a:pt x="48260" y="278130"/>
                  <a:pt x="47516" y="282158"/>
                  <a:pt x="45720" y="285750"/>
                </a:cubicBezTo>
                <a:cubicBezTo>
                  <a:pt x="30166" y="316858"/>
                  <a:pt x="26920" y="304050"/>
                  <a:pt x="11430" y="350520"/>
                </a:cubicBezTo>
                <a:lnTo>
                  <a:pt x="0" y="384810"/>
                </a:lnTo>
                <a:cubicBezTo>
                  <a:pt x="2540" y="419100"/>
                  <a:pt x="3076" y="453598"/>
                  <a:pt x="7620" y="487680"/>
                </a:cubicBezTo>
                <a:cubicBezTo>
                  <a:pt x="8225" y="492219"/>
                  <a:pt x="13632" y="494823"/>
                  <a:pt x="15240" y="499110"/>
                </a:cubicBezTo>
                <a:cubicBezTo>
                  <a:pt x="19299" y="509934"/>
                  <a:pt x="19050" y="513542"/>
                  <a:pt x="19050" y="52197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フリーフォーム: 図形 19">
            <a:extLst>
              <a:ext uri="{FF2B5EF4-FFF2-40B4-BE49-F238E27FC236}">
                <a16:creationId xmlns:a16="http://schemas.microsoft.com/office/drawing/2014/main" id="{C407EA20-3DCC-44DF-80D0-C187B849D4F3}"/>
              </a:ext>
            </a:extLst>
          </p:cNvPr>
          <p:cNvSpPr/>
          <p:nvPr/>
        </p:nvSpPr>
        <p:spPr>
          <a:xfrm>
            <a:off x="7754836" y="2883884"/>
            <a:ext cx="95250" cy="521970"/>
          </a:xfrm>
          <a:custGeom>
            <a:avLst/>
            <a:gdLst>
              <a:gd name="connsiteX0" fmla="*/ 49530 w 95250"/>
              <a:gd name="connsiteY0" fmla="*/ 0 h 521970"/>
              <a:gd name="connsiteX1" fmla="*/ 83820 w 95250"/>
              <a:gd name="connsiteY1" fmla="*/ 22860 h 521970"/>
              <a:gd name="connsiteX2" fmla="*/ 87630 w 95250"/>
              <a:gd name="connsiteY2" fmla="*/ 49530 h 521970"/>
              <a:gd name="connsiteX3" fmla="*/ 95250 w 95250"/>
              <a:gd name="connsiteY3" fmla="*/ 72390 h 521970"/>
              <a:gd name="connsiteX4" fmla="*/ 91440 w 95250"/>
              <a:gd name="connsiteY4" fmla="*/ 194310 h 521970"/>
              <a:gd name="connsiteX5" fmla="*/ 68580 w 95250"/>
              <a:gd name="connsiteY5" fmla="*/ 240030 h 521970"/>
              <a:gd name="connsiteX6" fmla="*/ 49530 w 95250"/>
              <a:gd name="connsiteY6" fmla="*/ 274320 h 521970"/>
              <a:gd name="connsiteX7" fmla="*/ 45720 w 95250"/>
              <a:gd name="connsiteY7" fmla="*/ 285750 h 521970"/>
              <a:gd name="connsiteX8" fmla="*/ 11430 w 95250"/>
              <a:gd name="connsiteY8" fmla="*/ 350520 h 521970"/>
              <a:gd name="connsiteX9" fmla="*/ 0 w 95250"/>
              <a:gd name="connsiteY9" fmla="*/ 384810 h 521970"/>
              <a:gd name="connsiteX10" fmla="*/ 7620 w 95250"/>
              <a:gd name="connsiteY10" fmla="*/ 487680 h 521970"/>
              <a:gd name="connsiteX11" fmla="*/ 15240 w 95250"/>
              <a:gd name="connsiteY11" fmla="*/ 499110 h 521970"/>
              <a:gd name="connsiteX12" fmla="*/ 19050 w 95250"/>
              <a:gd name="connsiteY12" fmla="*/ 521970 h 521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5250" h="521970">
                <a:moveTo>
                  <a:pt x="49530" y="0"/>
                </a:moveTo>
                <a:cubicBezTo>
                  <a:pt x="60960" y="7620"/>
                  <a:pt x="75444" y="11972"/>
                  <a:pt x="83820" y="22860"/>
                </a:cubicBezTo>
                <a:cubicBezTo>
                  <a:pt x="89295" y="29978"/>
                  <a:pt x="85611" y="40780"/>
                  <a:pt x="87630" y="49530"/>
                </a:cubicBezTo>
                <a:cubicBezTo>
                  <a:pt x="89436" y="57356"/>
                  <a:pt x="92710" y="64770"/>
                  <a:pt x="95250" y="72390"/>
                </a:cubicBezTo>
                <a:cubicBezTo>
                  <a:pt x="93980" y="113030"/>
                  <a:pt x="95588" y="153862"/>
                  <a:pt x="91440" y="194310"/>
                </a:cubicBezTo>
                <a:cubicBezTo>
                  <a:pt x="89901" y="209312"/>
                  <a:pt x="75180" y="226831"/>
                  <a:pt x="68580" y="240030"/>
                </a:cubicBezTo>
                <a:cubicBezTo>
                  <a:pt x="51118" y="274954"/>
                  <a:pt x="72012" y="244344"/>
                  <a:pt x="49530" y="274320"/>
                </a:cubicBezTo>
                <a:cubicBezTo>
                  <a:pt x="48260" y="278130"/>
                  <a:pt x="47516" y="282158"/>
                  <a:pt x="45720" y="285750"/>
                </a:cubicBezTo>
                <a:cubicBezTo>
                  <a:pt x="30166" y="316858"/>
                  <a:pt x="26920" y="304050"/>
                  <a:pt x="11430" y="350520"/>
                </a:cubicBezTo>
                <a:lnTo>
                  <a:pt x="0" y="384810"/>
                </a:lnTo>
                <a:cubicBezTo>
                  <a:pt x="2540" y="419100"/>
                  <a:pt x="3076" y="453598"/>
                  <a:pt x="7620" y="487680"/>
                </a:cubicBezTo>
                <a:cubicBezTo>
                  <a:pt x="8225" y="492219"/>
                  <a:pt x="13632" y="494823"/>
                  <a:pt x="15240" y="499110"/>
                </a:cubicBezTo>
                <a:cubicBezTo>
                  <a:pt x="19299" y="509934"/>
                  <a:pt x="19050" y="513542"/>
                  <a:pt x="19050" y="52197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フリーフォーム: 図形 20">
            <a:extLst>
              <a:ext uri="{FF2B5EF4-FFF2-40B4-BE49-F238E27FC236}">
                <a16:creationId xmlns:a16="http://schemas.microsoft.com/office/drawing/2014/main" id="{064F5A3E-DD41-4B99-AE17-03AAA1ED2E3A}"/>
              </a:ext>
            </a:extLst>
          </p:cNvPr>
          <p:cNvSpPr/>
          <p:nvPr/>
        </p:nvSpPr>
        <p:spPr>
          <a:xfrm>
            <a:off x="7881026" y="2821851"/>
            <a:ext cx="95250" cy="521970"/>
          </a:xfrm>
          <a:custGeom>
            <a:avLst/>
            <a:gdLst>
              <a:gd name="connsiteX0" fmla="*/ 49530 w 95250"/>
              <a:gd name="connsiteY0" fmla="*/ 0 h 521970"/>
              <a:gd name="connsiteX1" fmla="*/ 83820 w 95250"/>
              <a:gd name="connsiteY1" fmla="*/ 22860 h 521970"/>
              <a:gd name="connsiteX2" fmla="*/ 87630 w 95250"/>
              <a:gd name="connsiteY2" fmla="*/ 49530 h 521970"/>
              <a:gd name="connsiteX3" fmla="*/ 95250 w 95250"/>
              <a:gd name="connsiteY3" fmla="*/ 72390 h 521970"/>
              <a:gd name="connsiteX4" fmla="*/ 91440 w 95250"/>
              <a:gd name="connsiteY4" fmla="*/ 194310 h 521970"/>
              <a:gd name="connsiteX5" fmla="*/ 68580 w 95250"/>
              <a:gd name="connsiteY5" fmla="*/ 240030 h 521970"/>
              <a:gd name="connsiteX6" fmla="*/ 49530 w 95250"/>
              <a:gd name="connsiteY6" fmla="*/ 274320 h 521970"/>
              <a:gd name="connsiteX7" fmla="*/ 45720 w 95250"/>
              <a:gd name="connsiteY7" fmla="*/ 285750 h 521970"/>
              <a:gd name="connsiteX8" fmla="*/ 11430 w 95250"/>
              <a:gd name="connsiteY8" fmla="*/ 350520 h 521970"/>
              <a:gd name="connsiteX9" fmla="*/ 0 w 95250"/>
              <a:gd name="connsiteY9" fmla="*/ 384810 h 521970"/>
              <a:gd name="connsiteX10" fmla="*/ 7620 w 95250"/>
              <a:gd name="connsiteY10" fmla="*/ 487680 h 521970"/>
              <a:gd name="connsiteX11" fmla="*/ 15240 w 95250"/>
              <a:gd name="connsiteY11" fmla="*/ 499110 h 521970"/>
              <a:gd name="connsiteX12" fmla="*/ 19050 w 95250"/>
              <a:gd name="connsiteY12" fmla="*/ 521970 h 521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5250" h="521970">
                <a:moveTo>
                  <a:pt x="49530" y="0"/>
                </a:moveTo>
                <a:cubicBezTo>
                  <a:pt x="60960" y="7620"/>
                  <a:pt x="75444" y="11972"/>
                  <a:pt x="83820" y="22860"/>
                </a:cubicBezTo>
                <a:cubicBezTo>
                  <a:pt x="89295" y="29978"/>
                  <a:pt x="85611" y="40780"/>
                  <a:pt x="87630" y="49530"/>
                </a:cubicBezTo>
                <a:cubicBezTo>
                  <a:pt x="89436" y="57356"/>
                  <a:pt x="92710" y="64770"/>
                  <a:pt x="95250" y="72390"/>
                </a:cubicBezTo>
                <a:cubicBezTo>
                  <a:pt x="93980" y="113030"/>
                  <a:pt x="95588" y="153862"/>
                  <a:pt x="91440" y="194310"/>
                </a:cubicBezTo>
                <a:cubicBezTo>
                  <a:pt x="89901" y="209312"/>
                  <a:pt x="75180" y="226831"/>
                  <a:pt x="68580" y="240030"/>
                </a:cubicBezTo>
                <a:cubicBezTo>
                  <a:pt x="51118" y="274954"/>
                  <a:pt x="72012" y="244344"/>
                  <a:pt x="49530" y="274320"/>
                </a:cubicBezTo>
                <a:cubicBezTo>
                  <a:pt x="48260" y="278130"/>
                  <a:pt x="47516" y="282158"/>
                  <a:pt x="45720" y="285750"/>
                </a:cubicBezTo>
                <a:cubicBezTo>
                  <a:pt x="30166" y="316858"/>
                  <a:pt x="26920" y="304050"/>
                  <a:pt x="11430" y="350520"/>
                </a:cubicBezTo>
                <a:lnTo>
                  <a:pt x="0" y="384810"/>
                </a:lnTo>
                <a:cubicBezTo>
                  <a:pt x="2540" y="419100"/>
                  <a:pt x="3076" y="453598"/>
                  <a:pt x="7620" y="487680"/>
                </a:cubicBezTo>
                <a:cubicBezTo>
                  <a:pt x="8225" y="492219"/>
                  <a:pt x="13632" y="494823"/>
                  <a:pt x="15240" y="499110"/>
                </a:cubicBezTo>
                <a:cubicBezTo>
                  <a:pt x="19299" y="509934"/>
                  <a:pt x="19050" y="513542"/>
                  <a:pt x="19050" y="52197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フリーフォーム: 図形 21">
            <a:extLst>
              <a:ext uri="{FF2B5EF4-FFF2-40B4-BE49-F238E27FC236}">
                <a16:creationId xmlns:a16="http://schemas.microsoft.com/office/drawing/2014/main" id="{256AE524-6404-481B-9F45-52447533385D}"/>
              </a:ext>
            </a:extLst>
          </p:cNvPr>
          <p:cNvSpPr/>
          <p:nvPr/>
        </p:nvSpPr>
        <p:spPr>
          <a:xfrm>
            <a:off x="10774454" y="2801197"/>
            <a:ext cx="95250" cy="521970"/>
          </a:xfrm>
          <a:custGeom>
            <a:avLst/>
            <a:gdLst>
              <a:gd name="connsiteX0" fmla="*/ 49530 w 95250"/>
              <a:gd name="connsiteY0" fmla="*/ 0 h 521970"/>
              <a:gd name="connsiteX1" fmla="*/ 83820 w 95250"/>
              <a:gd name="connsiteY1" fmla="*/ 22860 h 521970"/>
              <a:gd name="connsiteX2" fmla="*/ 87630 w 95250"/>
              <a:gd name="connsiteY2" fmla="*/ 49530 h 521970"/>
              <a:gd name="connsiteX3" fmla="*/ 95250 w 95250"/>
              <a:gd name="connsiteY3" fmla="*/ 72390 h 521970"/>
              <a:gd name="connsiteX4" fmla="*/ 91440 w 95250"/>
              <a:gd name="connsiteY4" fmla="*/ 194310 h 521970"/>
              <a:gd name="connsiteX5" fmla="*/ 68580 w 95250"/>
              <a:gd name="connsiteY5" fmla="*/ 240030 h 521970"/>
              <a:gd name="connsiteX6" fmla="*/ 49530 w 95250"/>
              <a:gd name="connsiteY6" fmla="*/ 274320 h 521970"/>
              <a:gd name="connsiteX7" fmla="*/ 45720 w 95250"/>
              <a:gd name="connsiteY7" fmla="*/ 285750 h 521970"/>
              <a:gd name="connsiteX8" fmla="*/ 11430 w 95250"/>
              <a:gd name="connsiteY8" fmla="*/ 350520 h 521970"/>
              <a:gd name="connsiteX9" fmla="*/ 0 w 95250"/>
              <a:gd name="connsiteY9" fmla="*/ 384810 h 521970"/>
              <a:gd name="connsiteX10" fmla="*/ 7620 w 95250"/>
              <a:gd name="connsiteY10" fmla="*/ 487680 h 521970"/>
              <a:gd name="connsiteX11" fmla="*/ 15240 w 95250"/>
              <a:gd name="connsiteY11" fmla="*/ 499110 h 521970"/>
              <a:gd name="connsiteX12" fmla="*/ 19050 w 95250"/>
              <a:gd name="connsiteY12" fmla="*/ 521970 h 521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5250" h="521970">
                <a:moveTo>
                  <a:pt x="49530" y="0"/>
                </a:moveTo>
                <a:cubicBezTo>
                  <a:pt x="60960" y="7620"/>
                  <a:pt x="75444" y="11972"/>
                  <a:pt x="83820" y="22860"/>
                </a:cubicBezTo>
                <a:cubicBezTo>
                  <a:pt x="89295" y="29978"/>
                  <a:pt x="85611" y="40780"/>
                  <a:pt x="87630" y="49530"/>
                </a:cubicBezTo>
                <a:cubicBezTo>
                  <a:pt x="89436" y="57356"/>
                  <a:pt x="92710" y="64770"/>
                  <a:pt x="95250" y="72390"/>
                </a:cubicBezTo>
                <a:cubicBezTo>
                  <a:pt x="93980" y="113030"/>
                  <a:pt x="95588" y="153862"/>
                  <a:pt x="91440" y="194310"/>
                </a:cubicBezTo>
                <a:cubicBezTo>
                  <a:pt x="89901" y="209312"/>
                  <a:pt x="75180" y="226831"/>
                  <a:pt x="68580" y="240030"/>
                </a:cubicBezTo>
                <a:cubicBezTo>
                  <a:pt x="51118" y="274954"/>
                  <a:pt x="72012" y="244344"/>
                  <a:pt x="49530" y="274320"/>
                </a:cubicBezTo>
                <a:cubicBezTo>
                  <a:pt x="48260" y="278130"/>
                  <a:pt x="47516" y="282158"/>
                  <a:pt x="45720" y="285750"/>
                </a:cubicBezTo>
                <a:cubicBezTo>
                  <a:pt x="30166" y="316858"/>
                  <a:pt x="26920" y="304050"/>
                  <a:pt x="11430" y="350520"/>
                </a:cubicBezTo>
                <a:lnTo>
                  <a:pt x="0" y="384810"/>
                </a:lnTo>
                <a:cubicBezTo>
                  <a:pt x="2540" y="419100"/>
                  <a:pt x="3076" y="453598"/>
                  <a:pt x="7620" y="487680"/>
                </a:cubicBezTo>
                <a:cubicBezTo>
                  <a:pt x="8225" y="492219"/>
                  <a:pt x="13632" y="494823"/>
                  <a:pt x="15240" y="499110"/>
                </a:cubicBezTo>
                <a:cubicBezTo>
                  <a:pt x="19299" y="509934"/>
                  <a:pt x="19050" y="513542"/>
                  <a:pt x="19050" y="52197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フリーフォーム: 図形 22">
            <a:extLst>
              <a:ext uri="{FF2B5EF4-FFF2-40B4-BE49-F238E27FC236}">
                <a16:creationId xmlns:a16="http://schemas.microsoft.com/office/drawing/2014/main" id="{FD2F0930-AF97-4C14-B18D-443EBB1A5BB9}"/>
              </a:ext>
            </a:extLst>
          </p:cNvPr>
          <p:cNvSpPr/>
          <p:nvPr/>
        </p:nvSpPr>
        <p:spPr>
          <a:xfrm>
            <a:off x="10928340" y="2816151"/>
            <a:ext cx="95250" cy="521970"/>
          </a:xfrm>
          <a:custGeom>
            <a:avLst/>
            <a:gdLst>
              <a:gd name="connsiteX0" fmla="*/ 49530 w 95250"/>
              <a:gd name="connsiteY0" fmla="*/ 0 h 521970"/>
              <a:gd name="connsiteX1" fmla="*/ 83820 w 95250"/>
              <a:gd name="connsiteY1" fmla="*/ 22860 h 521970"/>
              <a:gd name="connsiteX2" fmla="*/ 87630 w 95250"/>
              <a:gd name="connsiteY2" fmla="*/ 49530 h 521970"/>
              <a:gd name="connsiteX3" fmla="*/ 95250 w 95250"/>
              <a:gd name="connsiteY3" fmla="*/ 72390 h 521970"/>
              <a:gd name="connsiteX4" fmla="*/ 91440 w 95250"/>
              <a:gd name="connsiteY4" fmla="*/ 194310 h 521970"/>
              <a:gd name="connsiteX5" fmla="*/ 68580 w 95250"/>
              <a:gd name="connsiteY5" fmla="*/ 240030 h 521970"/>
              <a:gd name="connsiteX6" fmla="*/ 49530 w 95250"/>
              <a:gd name="connsiteY6" fmla="*/ 274320 h 521970"/>
              <a:gd name="connsiteX7" fmla="*/ 45720 w 95250"/>
              <a:gd name="connsiteY7" fmla="*/ 285750 h 521970"/>
              <a:gd name="connsiteX8" fmla="*/ 11430 w 95250"/>
              <a:gd name="connsiteY8" fmla="*/ 350520 h 521970"/>
              <a:gd name="connsiteX9" fmla="*/ 0 w 95250"/>
              <a:gd name="connsiteY9" fmla="*/ 384810 h 521970"/>
              <a:gd name="connsiteX10" fmla="*/ 7620 w 95250"/>
              <a:gd name="connsiteY10" fmla="*/ 487680 h 521970"/>
              <a:gd name="connsiteX11" fmla="*/ 15240 w 95250"/>
              <a:gd name="connsiteY11" fmla="*/ 499110 h 521970"/>
              <a:gd name="connsiteX12" fmla="*/ 19050 w 95250"/>
              <a:gd name="connsiteY12" fmla="*/ 521970 h 521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5250" h="521970">
                <a:moveTo>
                  <a:pt x="49530" y="0"/>
                </a:moveTo>
                <a:cubicBezTo>
                  <a:pt x="60960" y="7620"/>
                  <a:pt x="75444" y="11972"/>
                  <a:pt x="83820" y="22860"/>
                </a:cubicBezTo>
                <a:cubicBezTo>
                  <a:pt x="89295" y="29978"/>
                  <a:pt x="85611" y="40780"/>
                  <a:pt x="87630" y="49530"/>
                </a:cubicBezTo>
                <a:cubicBezTo>
                  <a:pt x="89436" y="57356"/>
                  <a:pt x="92710" y="64770"/>
                  <a:pt x="95250" y="72390"/>
                </a:cubicBezTo>
                <a:cubicBezTo>
                  <a:pt x="93980" y="113030"/>
                  <a:pt x="95588" y="153862"/>
                  <a:pt x="91440" y="194310"/>
                </a:cubicBezTo>
                <a:cubicBezTo>
                  <a:pt x="89901" y="209312"/>
                  <a:pt x="75180" y="226831"/>
                  <a:pt x="68580" y="240030"/>
                </a:cubicBezTo>
                <a:cubicBezTo>
                  <a:pt x="51118" y="274954"/>
                  <a:pt x="72012" y="244344"/>
                  <a:pt x="49530" y="274320"/>
                </a:cubicBezTo>
                <a:cubicBezTo>
                  <a:pt x="48260" y="278130"/>
                  <a:pt x="47516" y="282158"/>
                  <a:pt x="45720" y="285750"/>
                </a:cubicBezTo>
                <a:cubicBezTo>
                  <a:pt x="30166" y="316858"/>
                  <a:pt x="26920" y="304050"/>
                  <a:pt x="11430" y="350520"/>
                </a:cubicBezTo>
                <a:lnTo>
                  <a:pt x="0" y="384810"/>
                </a:lnTo>
                <a:cubicBezTo>
                  <a:pt x="2540" y="419100"/>
                  <a:pt x="3076" y="453598"/>
                  <a:pt x="7620" y="487680"/>
                </a:cubicBezTo>
                <a:cubicBezTo>
                  <a:pt x="8225" y="492219"/>
                  <a:pt x="13632" y="494823"/>
                  <a:pt x="15240" y="499110"/>
                </a:cubicBezTo>
                <a:cubicBezTo>
                  <a:pt x="19299" y="509934"/>
                  <a:pt x="19050" y="513542"/>
                  <a:pt x="19050" y="52197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フリーフォーム: 図形 23">
            <a:extLst>
              <a:ext uri="{FF2B5EF4-FFF2-40B4-BE49-F238E27FC236}">
                <a16:creationId xmlns:a16="http://schemas.microsoft.com/office/drawing/2014/main" id="{7FF1E66E-D7C8-4CE9-AB91-BC03C35DA038}"/>
              </a:ext>
            </a:extLst>
          </p:cNvPr>
          <p:cNvSpPr/>
          <p:nvPr/>
        </p:nvSpPr>
        <p:spPr>
          <a:xfrm>
            <a:off x="11054530" y="2754118"/>
            <a:ext cx="95250" cy="521970"/>
          </a:xfrm>
          <a:custGeom>
            <a:avLst/>
            <a:gdLst>
              <a:gd name="connsiteX0" fmla="*/ 49530 w 95250"/>
              <a:gd name="connsiteY0" fmla="*/ 0 h 521970"/>
              <a:gd name="connsiteX1" fmla="*/ 83820 w 95250"/>
              <a:gd name="connsiteY1" fmla="*/ 22860 h 521970"/>
              <a:gd name="connsiteX2" fmla="*/ 87630 w 95250"/>
              <a:gd name="connsiteY2" fmla="*/ 49530 h 521970"/>
              <a:gd name="connsiteX3" fmla="*/ 95250 w 95250"/>
              <a:gd name="connsiteY3" fmla="*/ 72390 h 521970"/>
              <a:gd name="connsiteX4" fmla="*/ 91440 w 95250"/>
              <a:gd name="connsiteY4" fmla="*/ 194310 h 521970"/>
              <a:gd name="connsiteX5" fmla="*/ 68580 w 95250"/>
              <a:gd name="connsiteY5" fmla="*/ 240030 h 521970"/>
              <a:gd name="connsiteX6" fmla="*/ 49530 w 95250"/>
              <a:gd name="connsiteY6" fmla="*/ 274320 h 521970"/>
              <a:gd name="connsiteX7" fmla="*/ 45720 w 95250"/>
              <a:gd name="connsiteY7" fmla="*/ 285750 h 521970"/>
              <a:gd name="connsiteX8" fmla="*/ 11430 w 95250"/>
              <a:gd name="connsiteY8" fmla="*/ 350520 h 521970"/>
              <a:gd name="connsiteX9" fmla="*/ 0 w 95250"/>
              <a:gd name="connsiteY9" fmla="*/ 384810 h 521970"/>
              <a:gd name="connsiteX10" fmla="*/ 7620 w 95250"/>
              <a:gd name="connsiteY10" fmla="*/ 487680 h 521970"/>
              <a:gd name="connsiteX11" fmla="*/ 15240 w 95250"/>
              <a:gd name="connsiteY11" fmla="*/ 499110 h 521970"/>
              <a:gd name="connsiteX12" fmla="*/ 19050 w 95250"/>
              <a:gd name="connsiteY12" fmla="*/ 521970 h 521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5250" h="521970">
                <a:moveTo>
                  <a:pt x="49530" y="0"/>
                </a:moveTo>
                <a:cubicBezTo>
                  <a:pt x="60960" y="7620"/>
                  <a:pt x="75444" y="11972"/>
                  <a:pt x="83820" y="22860"/>
                </a:cubicBezTo>
                <a:cubicBezTo>
                  <a:pt x="89295" y="29978"/>
                  <a:pt x="85611" y="40780"/>
                  <a:pt x="87630" y="49530"/>
                </a:cubicBezTo>
                <a:cubicBezTo>
                  <a:pt x="89436" y="57356"/>
                  <a:pt x="92710" y="64770"/>
                  <a:pt x="95250" y="72390"/>
                </a:cubicBezTo>
                <a:cubicBezTo>
                  <a:pt x="93980" y="113030"/>
                  <a:pt x="95588" y="153862"/>
                  <a:pt x="91440" y="194310"/>
                </a:cubicBezTo>
                <a:cubicBezTo>
                  <a:pt x="89901" y="209312"/>
                  <a:pt x="75180" y="226831"/>
                  <a:pt x="68580" y="240030"/>
                </a:cubicBezTo>
                <a:cubicBezTo>
                  <a:pt x="51118" y="274954"/>
                  <a:pt x="72012" y="244344"/>
                  <a:pt x="49530" y="274320"/>
                </a:cubicBezTo>
                <a:cubicBezTo>
                  <a:pt x="48260" y="278130"/>
                  <a:pt x="47516" y="282158"/>
                  <a:pt x="45720" y="285750"/>
                </a:cubicBezTo>
                <a:cubicBezTo>
                  <a:pt x="30166" y="316858"/>
                  <a:pt x="26920" y="304050"/>
                  <a:pt x="11430" y="350520"/>
                </a:cubicBezTo>
                <a:lnTo>
                  <a:pt x="0" y="384810"/>
                </a:lnTo>
                <a:cubicBezTo>
                  <a:pt x="2540" y="419100"/>
                  <a:pt x="3076" y="453598"/>
                  <a:pt x="7620" y="487680"/>
                </a:cubicBezTo>
                <a:cubicBezTo>
                  <a:pt x="8225" y="492219"/>
                  <a:pt x="13632" y="494823"/>
                  <a:pt x="15240" y="499110"/>
                </a:cubicBezTo>
                <a:cubicBezTo>
                  <a:pt x="19299" y="509934"/>
                  <a:pt x="19050" y="513542"/>
                  <a:pt x="19050" y="52197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3519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24000" b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395BE0A-1ECC-4A1C-AAC0-1AFD691AF6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87ECB8C-63DA-4FEA-BEA9-A54D39D6D5D1}"/>
              </a:ext>
            </a:extLst>
          </p:cNvPr>
          <p:cNvSpPr txBox="1"/>
          <p:nvPr/>
        </p:nvSpPr>
        <p:spPr>
          <a:xfrm>
            <a:off x="3533071" y="5414373"/>
            <a:ext cx="85286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ジャンル　ハイスピード</a:t>
            </a:r>
            <a:r>
              <a:rPr kumimoji="1" lang="en-US" altLang="ja-JP" dirty="0"/>
              <a:t>3D</a:t>
            </a:r>
            <a:r>
              <a:rPr kumimoji="1" lang="ja-JP" altLang="en-US" dirty="0"/>
              <a:t>シューティング</a:t>
            </a:r>
            <a:endParaRPr kumimoji="1" lang="en-US" altLang="ja-JP" dirty="0"/>
          </a:p>
          <a:p>
            <a:r>
              <a:rPr lang="ja-JP" altLang="en-US" dirty="0"/>
              <a:t>対応機種　</a:t>
            </a:r>
            <a:r>
              <a:rPr lang="en-US" altLang="ja-JP" dirty="0"/>
              <a:t>Windows</a:t>
            </a:r>
          </a:p>
          <a:p>
            <a:r>
              <a:rPr lang="ja-JP" altLang="en-US" dirty="0"/>
              <a:t>プレイ人数　一人</a:t>
            </a:r>
            <a:r>
              <a:rPr kumimoji="1" lang="ja-JP" altLang="en-US" dirty="0"/>
              <a:t>制作　</a:t>
            </a:r>
            <a:r>
              <a:rPr lang="ja-JP" altLang="en-US" dirty="0"/>
              <a:t>新谷　琥太郎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2AD528E-9E12-4F1A-A71C-B8CB0EE2629E}"/>
              </a:ext>
            </a:extLst>
          </p:cNvPr>
          <p:cNvSpPr/>
          <p:nvPr/>
        </p:nvSpPr>
        <p:spPr>
          <a:xfrm>
            <a:off x="254000" y="1402080"/>
            <a:ext cx="11684000" cy="545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6BE96F1-3F0B-450A-807B-5D1977B9C5FE}"/>
              </a:ext>
            </a:extLst>
          </p:cNvPr>
          <p:cNvSpPr/>
          <p:nvPr/>
        </p:nvSpPr>
        <p:spPr>
          <a:xfrm>
            <a:off x="345441" y="1513840"/>
            <a:ext cx="11501118" cy="5232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22EDEC1-DFD4-4917-998A-4C09B2033B08}"/>
              </a:ext>
            </a:extLst>
          </p:cNvPr>
          <p:cNvSpPr/>
          <p:nvPr/>
        </p:nvSpPr>
        <p:spPr>
          <a:xfrm>
            <a:off x="3533071" y="213601"/>
            <a:ext cx="4808942" cy="1107566"/>
          </a:xfrm>
          <a:prstGeom prst="rect">
            <a:avLst/>
          </a:prstGeom>
          <a:solidFill>
            <a:schemeClr val="dk1">
              <a:alpha val="5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1DB33C5-A5DA-404D-85DC-7942780A091B}"/>
              </a:ext>
            </a:extLst>
          </p:cNvPr>
          <p:cNvSpPr txBox="1"/>
          <p:nvPr/>
        </p:nvSpPr>
        <p:spPr>
          <a:xfrm>
            <a:off x="3981276" y="379713"/>
            <a:ext cx="39125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b="1" dirty="0">
                <a:solidFill>
                  <a:srgbClr val="E6F0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ゲームの特徴</a:t>
            </a:r>
            <a:endParaRPr lang="en-US" altLang="ja-JP" sz="4800" b="1" dirty="0">
              <a:solidFill>
                <a:srgbClr val="E6F0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8AA6A559-E49D-4DFE-8B1E-E31A54CE08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806" y="213601"/>
            <a:ext cx="1727200" cy="1107566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60F0414-DAE5-49E6-B0D1-51E18AD438B0}"/>
              </a:ext>
            </a:extLst>
          </p:cNvPr>
          <p:cNvSpPr txBox="1"/>
          <p:nvPr/>
        </p:nvSpPr>
        <p:spPr>
          <a:xfrm>
            <a:off x="437720" y="1837986"/>
            <a:ext cx="576683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/>
              <a:t>・特徴②</a:t>
            </a:r>
            <a:endParaRPr kumimoji="1" lang="en-US" altLang="ja-JP" sz="3600" dirty="0"/>
          </a:p>
          <a:p>
            <a:r>
              <a:rPr lang="ja-JP" altLang="en-US" sz="3600" dirty="0"/>
              <a:t>　</a:t>
            </a:r>
            <a:r>
              <a:rPr lang="ja-JP" altLang="en-US" sz="3600" dirty="0">
                <a:solidFill>
                  <a:srgbClr val="FF0000"/>
                </a:solidFill>
              </a:rPr>
              <a:t>巨大</a:t>
            </a:r>
            <a:r>
              <a:rPr lang="ja-JP" altLang="en-US" sz="3600" dirty="0"/>
              <a:t>なボス</a:t>
            </a:r>
            <a:endParaRPr lang="en-US" altLang="ja-JP" sz="3600" dirty="0"/>
          </a:p>
          <a:p>
            <a:endParaRPr lang="en-US" altLang="ja-JP" sz="3600" dirty="0"/>
          </a:p>
          <a:p>
            <a:r>
              <a:rPr kumimoji="1" lang="ja-JP" altLang="en-US" sz="3600" dirty="0"/>
              <a:t>一定の敵を倒すとボスが出現する。</a:t>
            </a:r>
            <a:endParaRPr kumimoji="1" lang="en-US" altLang="ja-JP" sz="3600" dirty="0"/>
          </a:p>
          <a:p>
            <a:r>
              <a:rPr lang="ja-JP" altLang="en-US" sz="3600" dirty="0"/>
              <a:t>体力が多いのでアイテムで自分をパワーアップしておこう</a:t>
            </a:r>
            <a:endParaRPr kumimoji="1" lang="en-US" altLang="ja-JP" sz="3600" dirty="0"/>
          </a:p>
          <a:p>
            <a:endParaRPr kumimoji="1" lang="ja-JP" altLang="en-US" sz="3600" dirty="0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9C6BB337-04C3-41F1-A024-427D7C5064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551" y="1671343"/>
            <a:ext cx="5130777" cy="5130777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FA6F67B1-FD5C-4438-86DD-0D02E60BE4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1333" y="2244486"/>
            <a:ext cx="2047241" cy="1535431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C2DCAF0E-3267-4ED7-946E-326D7814A3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0627" y="3419843"/>
            <a:ext cx="2349538" cy="1762154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79C32AAA-AAD2-499C-9EBC-ADD431851F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153" y="2598307"/>
            <a:ext cx="1443083" cy="1082312"/>
          </a:xfrm>
          <a:prstGeom prst="rect">
            <a:avLst/>
          </a:prstGeom>
        </p:spPr>
      </p:pic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B5D3F9C-D564-4A8E-8B43-ACB967AE4079}"/>
              </a:ext>
            </a:extLst>
          </p:cNvPr>
          <p:cNvSpPr/>
          <p:nvPr/>
        </p:nvSpPr>
        <p:spPr>
          <a:xfrm>
            <a:off x="6458552" y="1772487"/>
            <a:ext cx="4553528" cy="27852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7317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24000" b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395BE0A-1ECC-4A1C-AAC0-1AFD691AF6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87ECB8C-63DA-4FEA-BEA9-A54D39D6D5D1}"/>
              </a:ext>
            </a:extLst>
          </p:cNvPr>
          <p:cNvSpPr txBox="1"/>
          <p:nvPr/>
        </p:nvSpPr>
        <p:spPr>
          <a:xfrm>
            <a:off x="3533071" y="5414373"/>
            <a:ext cx="85286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ジャンル　ハイスピード</a:t>
            </a:r>
            <a:r>
              <a:rPr kumimoji="1" lang="en-US" altLang="ja-JP" dirty="0"/>
              <a:t>3D</a:t>
            </a:r>
            <a:r>
              <a:rPr kumimoji="1" lang="ja-JP" altLang="en-US" dirty="0"/>
              <a:t>シューティング</a:t>
            </a:r>
            <a:endParaRPr kumimoji="1" lang="en-US" altLang="ja-JP" dirty="0"/>
          </a:p>
          <a:p>
            <a:r>
              <a:rPr lang="ja-JP" altLang="en-US" dirty="0"/>
              <a:t>対応機種　</a:t>
            </a:r>
            <a:r>
              <a:rPr lang="en-US" altLang="ja-JP" dirty="0"/>
              <a:t>Windows</a:t>
            </a:r>
          </a:p>
          <a:p>
            <a:r>
              <a:rPr lang="ja-JP" altLang="en-US" dirty="0"/>
              <a:t>プレイ人数　一人</a:t>
            </a:r>
            <a:r>
              <a:rPr kumimoji="1" lang="ja-JP" altLang="en-US" dirty="0"/>
              <a:t>制作　</a:t>
            </a:r>
            <a:r>
              <a:rPr lang="ja-JP" altLang="en-US" dirty="0"/>
              <a:t>新谷　琥太郎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2AD528E-9E12-4F1A-A71C-B8CB0EE2629E}"/>
              </a:ext>
            </a:extLst>
          </p:cNvPr>
          <p:cNvSpPr/>
          <p:nvPr/>
        </p:nvSpPr>
        <p:spPr>
          <a:xfrm>
            <a:off x="254000" y="1402080"/>
            <a:ext cx="11684000" cy="545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6BE96F1-3F0B-450A-807B-5D1977B9C5FE}"/>
              </a:ext>
            </a:extLst>
          </p:cNvPr>
          <p:cNvSpPr/>
          <p:nvPr/>
        </p:nvSpPr>
        <p:spPr>
          <a:xfrm>
            <a:off x="345441" y="1513840"/>
            <a:ext cx="11501118" cy="5232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22EDEC1-DFD4-4917-998A-4C09B2033B08}"/>
              </a:ext>
            </a:extLst>
          </p:cNvPr>
          <p:cNvSpPr/>
          <p:nvPr/>
        </p:nvSpPr>
        <p:spPr>
          <a:xfrm>
            <a:off x="3533071" y="213601"/>
            <a:ext cx="4808942" cy="1107566"/>
          </a:xfrm>
          <a:prstGeom prst="rect">
            <a:avLst/>
          </a:prstGeom>
          <a:solidFill>
            <a:schemeClr val="dk1">
              <a:alpha val="5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1DB33C5-A5DA-404D-85DC-7942780A091B}"/>
              </a:ext>
            </a:extLst>
          </p:cNvPr>
          <p:cNvSpPr txBox="1"/>
          <p:nvPr/>
        </p:nvSpPr>
        <p:spPr>
          <a:xfrm>
            <a:off x="3981276" y="379713"/>
            <a:ext cx="39125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b="1" dirty="0">
                <a:solidFill>
                  <a:srgbClr val="E6F0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ゲームの特徴</a:t>
            </a:r>
            <a:endParaRPr lang="en-US" altLang="ja-JP" sz="4800" b="1" dirty="0">
              <a:solidFill>
                <a:srgbClr val="E6F0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8AA6A559-E49D-4DFE-8B1E-E31A54CE08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806" y="213601"/>
            <a:ext cx="1727200" cy="1107566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60F0414-DAE5-49E6-B0D1-51E18AD438B0}"/>
              </a:ext>
            </a:extLst>
          </p:cNvPr>
          <p:cNvSpPr txBox="1"/>
          <p:nvPr/>
        </p:nvSpPr>
        <p:spPr>
          <a:xfrm>
            <a:off x="437719" y="1837986"/>
            <a:ext cx="97381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/>
              <a:t>・特徴③</a:t>
            </a:r>
            <a:endParaRPr kumimoji="1" lang="en-US" altLang="ja-JP" sz="3600" dirty="0"/>
          </a:p>
          <a:p>
            <a:r>
              <a:rPr lang="ja-JP" altLang="en-US" sz="3600" dirty="0"/>
              <a:t>　</a:t>
            </a:r>
            <a:r>
              <a:rPr lang="ja-JP" altLang="en-US" sz="3600" dirty="0">
                <a:solidFill>
                  <a:srgbClr val="FF0000"/>
                </a:solidFill>
              </a:rPr>
              <a:t>時空間移動</a:t>
            </a:r>
            <a:r>
              <a:rPr lang="ja-JP" altLang="en-US" sz="3600" dirty="0"/>
              <a:t>システム</a:t>
            </a:r>
            <a:endParaRPr kumimoji="1" lang="en-US" altLang="ja-JP" sz="3600" dirty="0"/>
          </a:p>
          <a:p>
            <a:endParaRPr kumimoji="1" lang="ja-JP" altLang="en-US" sz="3600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7DCA41E8-7C1B-4E8E-99CE-A487782F29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559" y="3425843"/>
            <a:ext cx="1451973" cy="108898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D9447755-7FB8-440D-8CA1-375DDB3CEC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430" y="4348354"/>
            <a:ext cx="1727200" cy="1107566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B27C5D3B-17CC-46AE-95EA-1940296CB0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034" y="3624353"/>
            <a:ext cx="1451973" cy="108898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B2DDB576-2B03-4A6A-B9F4-EE6F6D53BC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887" y="3398342"/>
            <a:ext cx="1451973" cy="1088980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BFCD213E-6AC5-4F4C-8649-687D8E6B3E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28" y="4438089"/>
            <a:ext cx="1451973" cy="108898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9CADC534-B4FC-4427-BDBC-9E45E2E343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043" y="5574026"/>
            <a:ext cx="1451973" cy="1088980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41631B93-0101-47F0-9EBB-A2D6121E44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913" y="4911430"/>
            <a:ext cx="1451973" cy="1088980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905A7E2-8200-4334-93C8-22BE16726AF1}"/>
              </a:ext>
            </a:extLst>
          </p:cNvPr>
          <p:cNvSpPr txBox="1"/>
          <p:nvPr/>
        </p:nvSpPr>
        <p:spPr>
          <a:xfrm rot="783329">
            <a:off x="2807221" y="4425136"/>
            <a:ext cx="16505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solidFill>
                  <a:srgbClr val="FF0000"/>
                </a:solidFill>
              </a:rPr>
              <a:t>ピンチ！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188D7AD-F15F-4D4B-87C2-38B42D993FEA}"/>
              </a:ext>
            </a:extLst>
          </p:cNvPr>
          <p:cNvSpPr txBox="1"/>
          <p:nvPr/>
        </p:nvSpPr>
        <p:spPr>
          <a:xfrm>
            <a:off x="5001770" y="3739500"/>
            <a:ext cx="1712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solidFill>
                  <a:srgbClr val="FF0000"/>
                </a:solidFill>
              </a:rPr>
              <a:t>使用！</a:t>
            </a:r>
          </a:p>
        </p:txBody>
      </p:sp>
      <p:sp>
        <p:nvSpPr>
          <p:cNvPr id="19" name="矢印: 右 18">
            <a:extLst>
              <a:ext uri="{FF2B5EF4-FFF2-40B4-BE49-F238E27FC236}">
                <a16:creationId xmlns:a16="http://schemas.microsoft.com/office/drawing/2014/main" id="{F6021A38-7191-45E4-ADE7-A662CD8D76EA}"/>
              </a:ext>
            </a:extLst>
          </p:cNvPr>
          <p:cNvSpPr/>
          <p:nvPr/>
        </p:nvSpPr>
        <p:spPr>
          <a:xfrm>
            <a:off x="5174465" y="4642896"/>
            <a:ext cx="1243692" cy="5083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5C1F0EA-49D6-4969-8156-342A39ACFDBE}"/>
              </a:ext>
            </a:extLst>
          </p:cNvPr>
          <p:cNvSpPr txBox="1"/>
          <p:nvPr/>
        </p:nvSpPr>
        <p:spPr>
          <a:xfrm>
            <a:off x="5833133" y="2050079"/>
            <a:ext cx="61505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時間を止めてピンチから脱出できるシステム！</a:t>
            </a:r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EB4E9821-60DB-428A-8070-3E2B1798807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253" y="4291707"/>
            <a:ext cx="1727200" cy="1107566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31641678-7939-477B-A2D4-7E10CCDC122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3529" y="4133248"/>
            <a:ext cx="1727200" cy="1107566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9F45AA62-C054-4E5E-8FD1-34972C85CE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321" y="3975594"/>
            <a:ext cx="1727200" cy="1107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410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24000" b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395BE0A-1ECC-4A1C-AAC0-1AFD691AF6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87ECB8C-63DA-4FEA-BEA9-A54D39D6D5D1}"/>
              </a:ext>
            </a:extLst>
          </p:cNvPr>
          <p:cNvSpPr txBox="1"/>
          <p:nvPr/>
        </p:nvSpPr>
        <p:spPr>
          <a:xfrm>
            <a:off x="3533071" y="5414373"/>
            <a:ext cx="85286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ジャンル　ハイスピード</a:t>
            </a:r>
            <a:r>
              <a:rPr kumimoji="1" lang="en-US" altLang="ja-JP" dirty="0"/>
              <a:t>3D</a:t>
            </a:r>
            <a:r>
              <a:rPr kumimoji="1" lang="ja-JP" altLang="en-US" dirty="0"/>
              <a:t>シューティング</a:t>
            </a:r>
            <a:endParaRPr kumimoji="1" lang="en-US" altLang="ja-JP" dirty="0"/>
          </a:p>
          <a:p>
            <a:r>
              <a:rPr lang="ja-JP" altLang="en-US" dirty="0"/>
              <a:t>対応機種　</a:t>
            </a:r>
            <a:r>
              <a:rPr lang="en-US" altLang="ja-JP" dirty="0"/>
              <a:t>Windows</a:t>
            </a:r>
          </a:p>
          <a:p>
            <a:r>
              <a:rPr lang="ja-JP" altLang="en-US" dirty="0"/>
              <a:t>プレイ人数　一人</a:t>
            </a:r>
            <a:r>
              <a:rPr kumimoji="1" lang="ja-JP" altLang="en-US" dirty="0"/>
              <a:t>制作　</a:t>
            </a:r>
            <a:r>
              <a:rPr lang="ja-JP" altLang="en-US" dirty="0"/>
              <a:t>新谷　琥太郎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2AD528E-9E12-4F1A-A71C-B8CB0EE2629E}"/>
              </a:ext>
            </a:extLst>
          </p:cNvPr>
          <p:cNvSpPr/>
          <p:nvPr/>
        </p:nvSpPr>
        <p:spPr>
          <a:xfrm>
            <a:off x="254000" y="1402080"/>
            <a:ext cx="11684000" cy="545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6BE96F1-3F0B-450A-807B-5D1977B9C5FE}"/>
              </a:ext>
            </a:extLst>
          </p:cNvPr>
          <p:cNvSpPr/>
          <p:nvPr/>
        </p:nvSpPr>
        <p:spPr>
          <a:xfrm>
            <a:off x="345441" y="1536700"/>
            <a:ext cx="11501118" cy="5232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22EDEC1-DFD4-4917-998A-4C09B2033B08}"/>
              </a:ext>
            </a:extLst>
          </p:cNvPr>
          <p:cNvSpPr/>
          <p:nvPr/>
        </p:nvSpPr>
        <p:spPr>
          <a:xfrm>
            <a:off x="3533071" y="213601"/>
            <a:ext cx="4808942" cy="1107566"/>
          </a:xfrm>
          <a:prstGeom prst="rect">
            <a:avLst/>
          </a:prstGeom>
          <a:solidFill>
            <a:schemeClr val="dk1">
              <a:alpha val="5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1DB33C5-A5DA-404D-85DC-7942780A091B}"/>
              </a:ext>
            </a:extLst>
          </p:cNvPr>
          <p:cNvSpPr txBox="1"/>
          <p:nvPr/>
        </p:nvSpPr>
        <p:spPr>
          <a:xfrm>
            <a:off x="3981276" y="379713"/>
            <a:ext cx="39125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b="1" dirty="0">
                <a:solidFill>
                  <a:srgbClr val="E6F0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ゲームの特徴</a:t>
            </a:r>
            <a:endParaRPr lang="en-US" altLang="ja-JP" sz="4800" b="1" dirty="0">
              <a:solidFill>
                <a:srgbClr val="E6F0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8AA6A559-E49D-4DFE-8B1E-E31A54CE08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806" y="213601"/>
            <a:ext cx="1727200" cy="1107566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60F0414-DAE5-49E6-B0D1-51E18AD438B0}"/>
              </a:ext>
            </a:extLst>
          </p:cNvPr>
          <p:cNvSpPr txBox="1"/>
          <p:nvPr/>
        </p:nvSpPr>
        <p:spPr>
          <a:xfrm>
            <a:off x="437719" y="1837986"/>
            <a:ext cx="97381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/>
              <a:t>・特徴④</a:t>
            </a:r>
            <a:endParaRPr kumimoji="1" lang="en-US" altLang="ja-JP" sz="3600" dirty="0"/>
          </a:p>
          <a:p>
            <a:r>
              <a:rPr lang="ja-JP" altLang="en-US" sz="3600" dirty="0"/>
              <a:t>　敵を倒して</a:t>
            </a:r>
            <a:r>
              <a:rPr lang="ja-JP" altLang="en-US" sz="3600" dirty="0">
                <a:solidFill>
                  <a:srgbClr val="FF0000"/>
                </a:solidFill>
              </a:rPr>
              <a:t>パワーアップ</a:t>
            </a:r>
            <a:endParaRPr kumimoji="1" lang="en-US" altLang="ja-JP" sz="3600" dirty="0">
              <a:solidFill>
                <a:srgbClr val="FF0000"/>
              </a:solidFill>
            </a:endParaRPr>
          </a:p>
          <a:p>
            <a:endParaRPr kumimoji="1" lang="ja-JP" altLang="en-US" sz="3600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0823A21-990E-4B01-AA8B-17C343BFF29A}"/>
              </a:ext>
            </a:extLst>
          </p:cNvPr>
          <p:cNvSpPr txBox="1"/>
          <p:nvPr/>
        </p:nvSpPr>
        <p:spPr>
          <a:xfrm>
            <a:off x="793460" y="3377849"/>
            <a:ext cx="97381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敵を倒すと経験値がもらえる。</a:t>
            </a:r>
            <a:endParaRPr kumimoji="1" lang="en-US" altLang="ja-JP" sz="3200" dirty="0"/>
          </a:p>
          <a:p>
            <a:r>
              <a:rPr kumimoji="1" lang="ja-JP" altLang="en-US" sz="3200" dirty="0"/>
              <a:t>一定量経験値をためると</a:t>
            </a:r>
            <a:r>
              <a:rPr kumimoji="1" lang="ja-JP" altLang="en-US" sz="3200" dirty="0">
                <a:solidFill>
                  <a:srgbClr val="FF0000"/>
                </a:solidFill>
              </a:rPr>
              <a:t>レベルアップ</a:t>
            </a:r>
            <a:r>
              <a:rPr kumimoji="1" lang="ja-JP" altLang="en-US" sz="3200" dirty="0"/>
              <a:t>しシールドの上限が上がったり新しい技が解放されたりする</a:t>
            </a:r>
            <a:endParaRPr kumimoji="1" lang="en-US" altLang="ja-JP" sz="3200" dirty="0"/>
          </a:p>
        </p:txBody>
      </p:sp>
      <p:pic>
        <p:nvPicPr>
          <p:cNvPr id="41" name="図 40">
            <a:extLst>
              <a:ext uri="{FF2B5EF4-FFF2-40B4-BE49-F238E27FC236}">
                <a16:creationId xmlns:a16="http://schemas.microsoft.com/office/drawing/2014/main" id="{D4D542E3-2323-4A90-A0BD-A81EFDD90A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430" y="4947509"/>
            <a:ext cx="1727200" cy="1107566"/>
          </a:xfrm>
          <a:prstGeom prst="rect">
            <a:avLst/>
          </a:prstGeom>
        </p:spPr>
      </p:pic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F81B286F-A9D6-44E4-89BA-4DBAC05F58C9}"/>
              </a:ext>
            </a:extLst>
          </p:cNvPr>
          <p:cNvSpPr/>
          <p:nvPr/>
        </p:nvSpPr>
        <p:spPr>
          <a:xfrm>
            <a:off x="1810951" y="6487649"/>
            <a:ext cx="578767" cy="18143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F7BF99A4-54BB-4742-896D-5D51C6AE7C34}"/>
              </a:ext>
            </a:extLst>
          </p:cNvPr>
          <p:cNvSpPr/>
          <p:nvPr/>
        </p:nvSpPr>
        <p:spPr>
          <a:xfrm>
            <a:off x="1810951" y="6214795"/>
            <a:ext cx="1676400" cy="30727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4BBED144-E4B4-4AEF-8374-4F25B673787F}"/>
              </a:ext>
            </a:extLst>
          </p:cNvPr>
          <p:cNvCxnSpPr>
            <a:cxnSpLocks/>
          </p:cNvCxnSpPr>
          <p:nvPr/>
        </p:nvCxnSpPr>
        <p:spPr>
          <a:xfrm>
            <a:off x="2389719" y="6180376"/>
            <a:ext cx="0" cy="4887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18569302-3281-4134-A416-607F52BEE756}"/>
              </a:ext>
            </a:extLst>
          </p:cNvPr>
          <p:cNvCxnSpPr>
            <a:cxnSpLocks/>
          </p:cNvCxnSpPr>
          <p:nvPr/>
        </p:nvCxnSpPr>
        <p:spPr>
          <a:xfrm>
            <a:off x="2966934" y="6180377"/>
            <a:ext cx="0" cy="3072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矢印: 右 48">
            <a:extLst>
              <a:ext uri="{FF2B5EF4-FFF2-40B4-BE49-F238E27FC236}">
                <a16:creationId xmlns:a16="http://schemas.microsoft.com/office/drawing/2014/main" id="{89008D03-038B-4372-BF35-858B15D5C079}"/>
              </a:ext>
            </a:extLst>
          </p:cNvPr>
          <p:cNvSpPr/>
          <p:nvPr/>
        </p:nvSpPr>
        <p:spPr>
          <a:xfrm>
            <a:off x="3596640" y="5684520"/>
            <a:ext cx="76596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C2C5C880-C799-48DE-8F50-E548731E98F7}"/>
              </a:ext>
            </a:extLst>
          </p:cNvPr>
          <p:cNvSpPr txBox="1"/>
          <p:nvPr/>
        </p:nvSpPr>
        <p:spPr>
          <a:xfrm>
            <a:off x="3533071" y="5235839"/>
            <a:ext cx="1089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LVUP</a:t>
            </a:r>
            <a:r>
              <a:rPr kumimoji="1" lang="ja-JP" altLang="en-US" dirty="0">
                <a:solidFill>
                  <a:srgbClr val="FF0000"/>
                </a:solidFill>
              </a:rPr>
              <a:t>！</a:t>
            </a: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34C79713-342D-4E47-A6FC-45E611932F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351" y="4947509"/>
            <a:ext cx="1727200" cy="1107566"/>
          </a:xfrm>
          <a:prstGeom prst="rect">
            <a:avLst/>
          </a:prstGeom>
        </p:spPr>
      </p:pic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B505C5E4-66BD-4675-B9B2-CB0169FC64A2}"/>
              </a:ext>
            </a:extLst>
          </p:cNvPr>
          <p:cNvSpPr/>
          <p:nvPr/>
        </p:nvSpPr>
        <p:spPr>
          <a:xfrm>
            <a:off x="4738872" y="6487649"/>
            <a:ext cx="1155982" cy="18143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73167FE4-11C2-4542-8C49-3F17ECAF419C}"/>
              </a:ext>
            </a:extLst>
          </p:cNvPr>
          <p:cNvSpPr/>
          <p:nvPr/>
        </p:nvSpPr>
        <p:spPr>
          <a:xfrm>
            <a:off x="4738872" y="6214795"/>
            <a:ext cx="1676400" cy="30727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F19B60DD-4384-46EA-8243-8B3FF1D1F94E}"/>
              </a:ext>
            </a:extLst>
          </p:cNvPr>
          <p:cNvCxnSpPr>
            <a:cxnSpLocks/>
          </p:cNvCxnSpPr>
          <p:nvPr/>
        </p:nvCxnSpPr>
        <p:spPr>
          <a:xfrm>
            <a:off x="5317640" y="6180376"/>
            <a:ext cx="0" cy="4887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95C73994-F5F1-4F2B-A353-6A4DB23F688B}"/>
              </a:ext>
            </a:extLst>
          </p:cNvPr>
          <p:cNvCxnSpPr>
            <a:cxnSpLocks/>
            <a:endCxn id="52" idx="3"/>
          </p:cNvCxnSpPr>
          <p:nvPr/>
        </p:nvCxnSpPr>
        <p:spPr>
          <a:xfrm flipH="1">
            <a:off x="5894854" y="6180377"/>
            <a:ext cx="2" cy="3979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8968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24000" b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395BE0A-1ECC-4A1C-AAC0-1AFD691AF6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87ECB8C-63DA-4FEA-BEA9-A54D39D6D5D1}"/>
              </a:ext>
            </a:extLst>
          </p:cNvPr>
          <p:cNvSpPr txBox="1"/>
          <p:nvPr/>
        </p:nvSpPr>
        <p:spPr>
          <a:xfrm>
            <a:off x="3533071" y="5414373"/>
            <a:ext cx="85286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ジャンル　ハイスピード</a:t>
            </a:r>
            <a:r>
              <a:rPr kumimoji="1" lang="en-US" altLang="ja-JP" dirty="0"/>
              <a:t>3D</a:t>
            </a:r>
            <a:r>
              <a:rPr kumimoji="1" lang="ja-JP" altLang="en-US" dirty="0"/>
              <a:t>シューティング</a:t>
            </a:r>
            <a:endParaRPr kumimoji="1" lang="en-US" altLang="ja-JP" dirty="0"/>
          </a:p>
          <a:p>
            <a:r>
              <a:rPr lang="ja-JP" altLang="en-US" dirty="0"/>
              <a:t>対応機種　</a:t>
            </a:r>
            <a:r>
              <a:rPr lang="en-US" altLang="ja-JP" dirty="0"/>
              <a:t>Windows</a:t>
            </a:r>
          </a:p>
          <a:p>
            <a:r>
              <a:rPr lang="ja-JP" altLang="en-US" dirty="0"/>
              <a:t>プレイ人数　一人</a:t>
            </a:r>
            <a:r>
              <a:rPr kumimoji="1" lang="ja-JP" altLang="en-US" dirty="0"/>
              <a:t>制作　</a:t>
            </a:r>
            <a:r>
              <a:rPr lang="ja-JP" altLang="en-US" dirty="0"/>
              <a:t>新谷　琥太郎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2AD528E-9E12-4F1A-A71C-B8CB0EE2629E}"/>
              </a:ext>
            </a:extLst>
          </p:cNvPr>
          <p:cNvSpPr/>
          <p:nvPr/>
        </p:nvSpPr>
        <p:spPr>
          <a:xfrm>
            <a:off x="254000" y="1402080"/>
            <a:ext cx="11684000" cy="545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6BE96F1-3F0B-450A-807B-5D1977B9C5FE}"/>
              </a:ext>
            </a:extLst>
          </p:cNvPr>
          <p:cNvSpPr/>
          <p:nvPr/>
        </p:nvSpPr>
        <p:spPr>
          <a:xfrm>
            <a:off x="345441" y="1513840"/>
            <a:ext cx="11501118" cy="5232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22EDEC1-DFD4-4917-998A-4C09B2033B08}"/>
              </a:ext>
            </a:extLst>
          </p:cNvPr>
          <p:cNvSpPr/>
          <p:nvPr/>
        </p:nvSpPr>
        <p:spPr>
          <a:xfrm>
            <a:off x="3533071" y="213601"/>
            <a:ext cx="4808942" cy="1107566"/>
          </a:xfrm>
          <a:prstGeom prst="rect">
            <a:avLst/>
          </a:prstGeom>
          <a:solidFill>
            <a:schemeClr val="dk1">
              <a:alpha val="5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1DB33C5-A5DA-404D-85DC-7942780A091B}"/>
              </a:ext>
            </a:extLst>
          </p:cNvPr>
          <p:cNvSpPr txBox="1"/>
          <p:nvPr/>
        </p:nvSpPr>
        <p:spPr>
          <a:xfrm>
            <a:off x="3981276" y="379713"/>
            <a:ext cx="39125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b="1" dirty="0">
                <a:solidFill>
                  <a:srgbClr val="E6F0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ゲームの特徴</a:t>
            </a:r>
            <a:endParaRPr lang="en-US" altLang="ja-JP" sz="4800" b="1" dirty="0">
              <a:solidFill>
                <a:srgbClr val="E6F0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8AA6A559-E49D-4DFE-8B1E-E31A54CE08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806" y="213601"/>
            <a:ext cx="1727200" cy="1107566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60F0414-DAE5-49E6-B0D1-51E18AD438B0}"/>
              </a:ext>
            </a:extLst>
          </p:cNvPr>
          <p:cNvSpPr txBox="1"/>
          <p:nvPr/>
        </p:nvSpPr>
        <p:spPr>
          <a:xfrm>
            <a:off x="437719" y="1837986"/>
            <a:ext cx="97381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/>
              <a:t>・特徴④</a:t>
            </a:r>
            <a:endParaRPr kumimoji="1" lang="en-US" altLang="ja-JP" sz="3600" dirty="0"/>
          </a:p>
          <a:p>
            <a:r>
              <a:rPr lang="ja-JP" altLang="en-US" sz="3600" dirty="0"/>
              <a:t>　アイテムを拾って</a:t>
            </a:r>
            <a:r>
              <a:rPr lang="ja-JP" altLang="en-US" sz="3600" dirty="0">
                <a:solidFill>
                  <a:srgbClr val="FF0000"/>
                </a:solidFill>
              </a:rPr>
              <a:t>パワーアップ</a:t>
            </a:r>
            <a:endParaRPr kumimoji="1" lang="en-US" altLang="ja-JP" sz="3600" dirty="0">
              <a:solidFill>
                <a:srgbClr val="FF0000"/>
              </a:solidFill>
            </a:endParaRPr>
          </a:p>
          <a:p>
            <a:endParaRPr kumimoji="1" lang="ja-JP" altLang="en-US" sz="3600" dirty="0"/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0CA31063-AECA-4486-A6C5-7C384BC3C0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824" y="5404713"/>
            <a:ext cx="1431433" cy="1073574"/>
          </a:xfrm>
          <a:prstGeom prst="rect">
            <a:avLst/>
          </a:prstGeom>
        </p:spPr>
      </p:pic>
      <p:sp>
        <p:nvSpPr>
          <p:cNvPr id="25" name="矢印: 右 24">
            <a:extLst>
              <a:ext uri="{FF2B5EF4-FFF2-40B4-BE49-F238E27FC236}">
                <a16:creationId xmlns:a16="http://schemas.microsoft.com/office/drawing/2014/main" id="{FCBE377F-3B4E-44C2-B193-17C6D2E6F050}"/>
              </a:ext>
            </a:extLst>
          </p:cNvPr>
          <p:cNvSpPr/>
          <p:nvPr/>
        </p:nvSpPr>
        <p:spPr>
          <a:xfrm>
            <a:off x="5070257" y="5749014"/>
            <a:ext cx="803992" cy="3136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7857B68-D5C8-400F-AAD7-BF9B81513DE6}"/>
              </a:ext>
            </a:extLst>
          </p:cNvPr>
          <p:cNvSpPr txBox="1"/>
          <p:nvPr/>
        </p:nvSpPr>
        <p:spPr>
          <a:xfrm>
            <a:off x="5029619" y="5266312"/>
            <a:ext cx="1066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</a:rPr>
              <a:t>破壊！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0823A21-990E-4B01-AA8B-17C343BFF29A}"/>
              </a:ext>
            </a:extLst>
          </p:cNvPr>
          <p:cNvSpPr txBox="1"/>
          <p:nvPr/>
        </p:nvSpPr>
        <p:spPr>
          <a:xfrm>
            <a:off x="818627" y="3399787"/>
            <a:ext cx="560227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隕石や漂流物を破壊すると</a:t>
            </a:r>
            <a:endParaRPr kumimoji="1" lang="en-US" altLang="ja-JP" sz="3200" dirty="0"/>
          </a:p>
          <a:p>
            <a:r>
              <a:rPr lang="ja-JP" altLang="en-US" sz="3200" dirty="0">
                <a:solidFill>
                  <a:srgbClr val="FF0000"/>
                </a:solidFill>
              </a:rPr>
              <a:t>アイテム</a:t>
            </a:r>
            <a:r>
              <a:rPr lang="ja-JP" altLang="en-US" sz="3200" dirty="0"/>
              <a:t>が出てくる</a:t>
            </a:r>
            <a:endParaRPr lang="en-US" altLang="ja-JP" sz="3200" dirty="0"/>
          </a:p>
          <a:p>
            <a:r>
              <a:rPr kumimoji="1" lang="ja-JP" altLang="en-US" sz="3200" dirty="0"/>
              <a:t>アイテムを拾うと様々な効果が受けられる！</a:t>
            </a:r>
          </a:p>
        </p:txBody>
      </p:sp>
      <p:pic>
        <p:nvPicPr>
          <p:cNvPr id="30" name="図 29">
            <a:extLst>
              <a:ext uri="{FF2B5EF4-FFF2-40B4-BE49-F238E27FC236}">
                <a16:creationId xmlns:a16="http://schemas.microsoft.com/office/drawing/2014/main" id="{C4A7A565-C637-44C0-A95B-67EACB6BF3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5449" y="5322255"/>
            <a:ext cx="1727200" cy="1107566"/>
          </a:xfrm>
          <a:prstGeom prst="rect">
            <a:avLst/>
          </a:prstGeom>
        </p:spPr>
      </p:pic>
      <p:sp>
        <p:nvSpPr>
          <p:cNvPr id="31" name="矢印: 右 30">
            <a:extLst>
              <a:ext uri="{FF2B5EF4-FFF2-40B4-BE49-F238E27FC236}">
                <a16:creationId xmlns:a16="http://schemas.microsoft.com/office/drawing/2014/main" id="{6F7D8136-A631-4194-B0F7-390BE4868A33}"/>
              </a:ext>
            </a:extLst>
          </p:cNvPr>
          <p:cNvSpPr/>
          <p:nvPr/>
        </p:nvSpPr>
        <p:spPr>
          <a:xfrm>
            <a:off x="7194747" y="5749014"/>
            <a:ext cx="803992" cy="3136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F4BDE06-BEB6-446A-9DD2-91709ED90C1E}"/>
              </a:ext>
            </a:extLst>
          </p:cNvPr>
          <p:cNvSpPr txBox="1"/>
          <p:nvPr/>
        </p:nvSpPr>
        <p:spPr>
          <a:xfrm>
            <a:off x="7172068" y="5252089"/>
            <a:ext cx="1066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</a:rPr>
              <a:t>取得！</a:t>
            </a:r>
          </a:p>
        </p:txBody>
      </p:sp>
      <p:pic>
        <p:nvPicPr>
          <p:cNvPr id="34" name="図 33">
            <a:extLst>
              <a:ext uri="{FF2B5EF4-FFF2-40B4-BE49-F238E27FC236}">
                <a16:creationId xmlns:a16="http://schemas.microsoft.com/office/drawing/2014/main" id="{9ABC9EED-B14A-4EF8-ACF5-C0242D310B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388" y="5485337"/>
            <a:ext cx="1210994" cy="908246"/>
          </a:xfrm>
          <a:prstGeom prst="rect">
            <a:avLst/>
          </a:prstGeom>
        </p:spPr>
      </p:pic>
      <p:pic>
        <p:nvPicPr>
          <p:cNvPr id="38" name="図 37">
            <a:extLst>
              <a:ext uri="{FF2B5EF4-FFF2-40B4-BE49-F238E27FC236}">
                <a16:creationId xmlns:a16="http://schemas.microsoft.com/office/drawing/2014/main" id="{999566F6-8149-455A-A77F-D8FB88C253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9323" y="5173764"/>
            <a:ext cx="1195340" cy="1195340"/>
          </a:xfrm>
          <a:prstGeom prst="rect">
            <a:avLst/>
          </a:prstGeom>
        </p:spPr>
      </p:pic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0FADA362-C9DA-4AB0-9CEE-916D9A61D08B}"/>
              </a:ext>
            </a:extLst>
          </p:cNvPr>
          <p:cNvSpPr txBox="1"/>
          <p:nvPr/>
        </p:nvSpPr>
        <p:spPr>
          <a:xfrm>
            <a:off x="7596743" y="1928635"/>
            <a:ext cx="41575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アイテムの種類</a:t>
            </a:r>
            <a:endParaRPr kumimoji="1"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HP</a:t>
            </a:r>
            <a:r>
              <a:rPr lang="ja-JP" altLang="en-US" sz="2400" dirty="0"/>
              <a:t>回復・シールド回復</a:t>
            </a:r>
            <a:endParaRPr lang="en-US" altLang="ja-JP" sz="2400" dirty="0"/>
          </a:p>
          <a:p>
            <a:r>
              <a:rPr kumimoji="1" lang="ja-JP" altLang="en-US" sz="2400" dirty="0"/>
              <a:t>・弾強化・</a:t>
            </a:r>
            <a:r>
              <a:rPr lang="ja-JP" altLang="en-US" sz="2400" dirty="0"/>
              <a:t>時空間移動クールタイム減少</a:t>
            </a:r>
            <a:endParaRPr kumimoji="1" lang="en-US" altLang="ja-JP" sz="2400" dirty="0"/>
          </a:p>
          <a:p>
            <a:r>
              <a:rPr lang="ja-JP" altLang="en-US" sz="2400" dirty="0"/>
              <a:t>など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618179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24000" b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395BE0A-1ECC-4A1C-AAC0-1AFD691AF6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87ECB8C-63DA-4FEA-BEA9-A54D39D6D5D1}"/>
              </a:ext>
            </a:extLst>
          </p:cNvPr>
          <p:cNvSpPr txBox="1"/>
          <p:nvPr/>
        </p:nvSpPr>
        <p:spPr>
          <a:xfrm>
            <a:off x="3533071" y="5414373"/>
            <a:ext cx="85286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ジャンル　ハイスピード</a:t>
            </a:r>
            <a:r>
              <a:rPr kumimoji="1" lang="en-US" altLang="ja-JP" dirty="0"/>
              <a:t>3D</a:t>
            </a:r>
            <a:r>
              <a:rPr kumimoji="1" lang="ja-JP" altLang="en-US" dirty="0"/>
              <a:t>シューティング</a:t>
            </a:r>
            <a:endParaRPr kumimoji="1" lang="en-US" altLang="ja-JP" dirty="0"/>
          </a:p>
          <a:p>
            <a:r>
              <a:rPr lang="ja-JP" altLang="en-US" dirty="0"/>
              <a:t>対応機種　</a:t>
            </a:r>
            <a:r>
              <a:rPr lang="en-US" altLang="ja-JP" dirty="0"/>
              <a:t>Windows</a:t>
            </a:r>
          </a:p>
          <a:p>
            <a:r>
              <a:rPr lang="ja-JP" altLang="en-US" dirty="0"/>
              <a:t>プレイ人数　一人</a:t>
            </a:r>
            <a:r>
              <a:rPr kumimoji="1" lang="ja-JP" altLang="en-US" dirty="0"/>
              <a:t>制作　</a:t>
            </a:r>
            <a:r>
              <a:rPr lang="ja-JP" altLang="en-US" dirty="0"/>
              <a:t>新谷　琥太郎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2AD528E-9E12-4F1A-A71C-B8CB0EE2629E}"/>
              </a:ext>
            </a:extLst>
          </p:cNvPr>
          <p:cNvSpPr/>
          <p:nvPr/>
        </p:nvSpPr>
        <p:spPr>
          <a:xfrm>
            <a:off x="254000" y="1402080"/>
            <a:ext cx="11684000" cy="545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6BE96F1-3F0B-450A-807B-5D1977B9C5FE}"/>
              </a:ext>
            </a:extLst>
          </p:cNvPr>
          <p:cNvSpPr/>
          <p:nvPr/>
        </p:nvSpPr>
        <p:spPr>
          <a:xfrm>
            <a:off x="341666" y="1512736"/>
            <a:ext cx="11501118" cy="5232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22EDEC1-DFD4-4917-998A-4C09B2033B08}"/>
              </a:ext>
            </a:extLst>
          </p:cNvPr>
          <p:cNvSpPr/>
          <p:nvPr/>
        </p:nvSpPr>
        <p:spPr>
          <a:xfrm>
            <a:off x="3533071" y="213601"/>
            <a:ext cx="4808942" cy="1107566"/>
          </a:xfrm>
          <a:prstGeom prst="rect">
            <a:avLst/>
          </a:prstGeom>
          <a:solidFill>
            <a:schemeClr val="dk1">
              <a:alpha val="5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1DB33C5-A5DA-404D-85DC-7942780A091B}"/>
              </a:ext>
            </a:extLst>
          </p:cNvPr>
          <p:cNvSpPr txBox="1"/>
          <p:nvPr/>
        </p:nvSpPr>
        <p:spPr>
          <a:xfrm>
            <a:off x="3739253" y="379978"/>
            <a:ext cx="45585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b="1" dirty="0">
                <a:solidFill>
                  <a:srgbClr val="E6F0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プレイイメージ</a:t>
            </a:r>
            <a:endParaRPr lang="en-US" altLang="ja-JP" sz="4800" b="1" dirty="0">
              <a:solidFill>
                <a:srgbClr val="E6F0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9F690A43-4381-459C-A361-A141DCC0C6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4492" y="213601"/>
            <a:ext cx="1727200" cy="1107566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B497E124-CF08-4454-A0D7-D2023D8530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725" y="1512736"/>
            <a:ext cx="10287000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736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24000" b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395BE0A-1ECC-4A1C-AAC0-1AFD691AF667}"/>
              </a:ext>
            </a:extLst>
          </p:cNvPr>
          <p:cNvSpPr/>
          <p:nvPr/>
        </p:nvSpPr>
        <p:spPr>
          <a:xfrm>
            <a:off x="0" y="35240"/>
            <a:ext cx="12192000" cy="6858000"/>
          </a:xfrm>
          <a:prstGeom prst="rect">
            <a:avLst/>
          </a:prstGeom>
          <a:solidFill>
            <a:schemeClr val="dk1">
              <a:alpha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87ECB8C-63DA-4FEA-BEA9-A54D39D6D5D1}"/>
              </a:ext>
            </a:extLst>
          </p:cNvPr>
          <p:cNvSpPr txBox="1"/>
          <p:nvPr/>
        </p:nvSpPr>
        <p:spPr>
          <a:xfrm>
            <a:off x="3533071" y="5414373"/>
            <a:ext cx="85286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ジャンル　ハイスピード</a:t>
            </a:r>
            <a:r>
              <a:rPr kumimoji="1" lang="en-US" altLang="ja-JP" dirty="0"/>
              <a:t>3D</a:t>
            </a:r>
            <a:r>
              <a:rPr kumimoji="1" lang="ja-JP" altLang="en-US" dirty="0"/>
              <a:t>シューティング</a:t>
            </a:r>
            <a:endParaRPr kumimoji="1" lang="en-US" altLang="ja-JP" dirty="0"/>
          </a:p>
          <a:p>
            <a:r>
              <a:rPr lang="ja-JP" altLang="en-US" dirty="0"/>
              <a:t>対応機種　</a:t>
            </a:r>
            <a:r>
              <a:rPr lang="en-US" altLang="ja-JP" dirty="0"/>
              <a:t>Windows</a:t>
            </a:r>
          </a:p>
          <a:p>
            <a:r>
              <a:rPr lang="ja-JP" altLang="en-US" dirty="0"/>
              <a:t>プレイ人数　一人</a:t>
            </a:r>
            <a:r>
              <a:rPr kumimoji="1" lang="ja-JP" altLang="en-US" dirty="0"/>
              <a:t>制作　</a:t>
            </a:r>
            <a:r>
              <a:rPr lang="ja-JP" altLang="en-US" dirty="0"/>
              <a:t>新谷　琥太郎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2AD528E-9E12-4F1A-A71C-B8CB0EE2629E}"/>
              </a:ext>
            </a:extLst>
          </p:cNvPr>
          <p:cNvSpPr/>
          <p:nvPr/>
        </p:nvSpPr>
        <p:spPr>
          <a:xfrm>
            <a:off x="254000" y="1402080"/>
            <a:ext cx="11684000" cy="545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6BE96F1-3F0B-450A-807B-5D1977B9C5FE}"/>
              </a:ext>
            </a:extLst>
          </p:cNvPr>
          <p:cNvSpPr/>
          <p:nvPr/>
        </p:nvSpPr>
        <p:spPr>
          <a:xfrm>
            <a:off x="341666" y="1512736"/>
            <a:ext cx="11501118" cy="5232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22EDEC1-DFD4-4917-998A-4C09B2033B08}"/>
              </a:ext>
            </a:extLst>
          </p:cNvPr>
          <p:cNvSpPr/>
          <p:nvPr/>
        </p:nvSpPr>
        <p:spPr>
          <a:xfrm>
            <a:off x="3533071" y="213601"/>
            <a:ext cx="4808942" cy="1107566"/>
          </a:xfrm>
          <a:prstGeom prst="rect">
            <a:avLst/>
          </a:prstGeom>
          <a:solidFill>
            <a:schemeClr val="dk1">
              <a:alpha val="5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1DB33C5-A5DA-404D-85DC-7942780A091B}"/>
              </a:ext>
            </a:extLst>
          </p:cNvPr>
          <p:cNvSpPr txBox="1"/>
          <p:nvPr/>
        </p:nvSpPr>
        <p:spPr>
          <a:xfrm>
            <a:off x="4645955" y="353723"/>
            <a:ext cx="2694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b="1" dirty="0">
                <a:solidFill>
                  <a:srgbClr val="E6F0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操作方法</a:t>
            </a:r>
            <a:endParaRPr lang="en-US" altLang="ja-JP" sz="4800" b="1" dirty="0">
              <a:solidFill>
                <a:srgbClr val="E6F0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A170769F-074E-412C-A4ED-49E88D29BD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56" y="3864617"/>
            <a:ext cx="6833630" cy="2779782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2A0CF6A1-57C1-4895-A778-A85683DCB2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4286" y="4364786"/>
            <a:ext cx="2158620" cy="1619075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6FA3886-FE24-4400-B475-1658028459BA}"/>
              </a:ext>
            </a:extLst>
          </p:cNvPr>
          <p:cNvSpPr txBox="1"/>
          <p:nvPr/>
        </p:nvSpPr>
        <p:spPr>
          <a:xfrm>
            <a:off x="701738" y="1811514"/>
            <a:ext cx="3196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使用キー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3E146FF-113B-4958-A0A5-63D0DEA397D5}"/>
              </a:ext>
            </a:extLst>
          </p:cNvPr>
          <p:cNvSpPr txBox="1"/>
          <p:nvPr/>
        </p:nvSpPr>
        <p:spPr>
          <a:xfrm>
            <a:off x="701738" y="2523263"/>
            <a:ext cx="784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移動　</a:t>
            </a:r>
            <a:r>
              <a:rPr kumimoji="1" lang="en-US" altLang="ja-JP" sz="2400" dirty="0"/>
              <a:t>WASD</a:t>
            </a:r>
            <a:r>
              <a:rPr kumimoji="1" lang="ja-JP" altLang="en-US" sz="2400" dirty="0"/>
              <a:t>　　マウス左長押し　弾を撃つ　</a:t>
            </a:r>
            <a:endParaRPr kumimoji="1" lang="en-US" altLang="ja-JP" sz="2400" dirty="0"/>
          </a:p>
          <a:p>
            <a:r>
              <a:rPr lang="ja-JP" altLang="en-US" sz="2400" dirty="0"/>
              <a:t>時空間移動　</a:t>
            </a:r>
            <a:r>
              <a:rPr lang="en-US" altLang="ja-JP" sz="2400" dirty="0"/>
              <a:t>E</a:t>
            </a:r>
            <a:r>
              <a:rPr lang="ja-JP" altLang="en-US" sz="2400" dirty="0"/>
              <a:t>　 マウス右長押し</a:t>
            </a:r>
            <a:r>
              <a:rPr lang="en-US" altLang="ja-JP" sz="2400" dirty="0"/>
              <a:t>+WASD</a:t>
            </a:r>
            <a:r>
              <a:rPr lang="ja-JP" altLang="en-US" sz="2400" dirty="0"/>
              <a:t>　低速移動</a:t>
            </a:r>
            <a:endParaRPr lang="en-US" altLang="ja-JP" sz="2400" dirty="0"/>
          </a:p>
          <a:p>
            <a:r>
              <a:rPr lang="ja-JP" altLang="en-US" sz="2400" dirty="0"/>
              <a:t>マウスカーソル移動　視点移動　　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05605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24000" b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395BE0A-1ECC-4A1C-AAC0-1AFD691AF6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6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87ECB8C-63DA-4FEA-BEA9-A54D39D6D5D1}"/>
              </a:ext>
            </a:extLst>
          </p:cNvPr>
          <p:cNvSpPr txBox="1"/>
          <p:nvPr/>
        </p:nvSpPr>
        <p:spPr>
          <a:xfrm>
            <a:off x="3533071" y="5414373"/>
            <a:ext cx="85286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ジャンル　ハイスピード</a:t>
            </a:r>
            <a:r>
              <a:rPr kumimoji="1" lang="en-US" altLang="ja-JP" dirty="0"/>
              <a:t>3D</a:t>
            </a:r>
            <a:r>
              <a:rPr kumimoji="1" lang="ja-JP" altLang="en-US" dirty="0"/>
              <a:t>シューティング</a:t>
            </a:r>
            <a:endParaRPr kumimoji="1" lang="en-US" altLang="ja-JP" dirty="0"/>
          </a:p>
          <a:p>
            <a:r>
              <a:rPr lang="ja-JP" altLang="en-US" dirty="0"/>
              <a:t>対応機種　</a:t>
            </a:r>
            <a:r>
              <a:rPr lang="en-US" altLang="ja-JP" dirty="0"/>
              <a:t>Windows</a:t>
            </a:r>
          </a:p>
          <a:p>
            <a:r>
              <a:rPr lang="ja-JP" altLang="en-US" dirty="0"/>
              <a:t>プレイ人数　一人</a:t>
            </a:r>
            <a:r>
              <a:rPr kumimoji="1" lang="ja-JP" altLang="en-US" dirty="0"/>
              <a:t>制作　</a:t>
            </a:r>
            <a:r>
              <a:rPr lang="ja-JP" altLang="en-US" dirty="0"/>
              <a:t>新谷　琥太郎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2AD528E-9E12-4F1A-A71C-B8CB0EE2629E}"/>
              </a:ext>
            </a:extLst>
          </p:cNvPr>
          <p:cNvSpPr/>
          <p:nvPr/>
        </p:nvSpPr>
        <p:spPr>
          <a:xfrm>
            <a:off x="254000" y="1402080"/>
            <a:ext cx="11684000" cy="5455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6BE96F1-3F0B-450A-807B-5D1977B9C5FE}"/>
              </a:ext>
            </a:extLst>
          </p:cNvPr>
          <p:cNvSpPr/>
          <p:nvPr/>
        </p:nvSpPr>
        <p:spPr>
          <a:xfrm>
            <a:off x="345441" y="1513840"/>
            <a:ext cx="11501118" cy="5232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22EDEC1-DFD4-4917-998A-4C09B2033B08}"/>
              </a:ext>
            </a:extLst>
          </p:cNvPr>
          <p:cNvSpPr/>
          <p:nvPr/>
        </p:nvSpPr>
        <p:spPr>
          <a:xfrm>
            <a:off x="3164129" y="213601"/>
            <a:ext cx="5387409" cy="1107566"/>
          </a:xfrm>
          <a:prstGeom prst="rect">
            <a:avLst/>
          </a:prstGeom>
          <a:solidFill>
            <a:schemeClr val="dk1">
              <a:alpha val="5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1DB33C5-A5DA-404D-85DC-7942780A091B}"/>
              </a:ext>
            </a:extLst>
          </p:cNvPr>
          <p:cNvSpPr txBox="1"/>
          <p:nvPr/>
        </p:nvSpPr>
        <p:spPr>
          <a:xfrm>
            <a:off x="3723913" y="379713"/>
            <a:ext cx="4680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b="1" dirty="0">
                <a:solidFill>
                  <a:srgbClr val="E6F0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ゲームサイクル</a:t>
            </a:r>
            <a:endParaRPr lang="en-US" altLang="ja-JP" sz="4800" b="1" dirty="0">
              <a:solidFill>
                <a:srgbClr val="E6F0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CBB0BC8D-2A36-4CA8-A6A3-EA4D82A22B68}"/>
              </a:ext>
            </a:extLst>
          </p:cNvPr>
          <p:cNvSpPr/>
          <p:nvPr/>
        </p:nvSpPr>
        <p:spPr>
          <a:xfrm>
            <a:off x="711200" y="2010519"/>
            <a:ext cx="2011680" cy="101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タイトル</a:t>
            </a: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E777417A-5FD1-4EEA-B8BF-B6200CC34955}"/>
              </a:ext>
            </a:extLst>
          </p:cNvPr>
          <p:cNvSpPr/>
          <p:nvPr/>
        </p:nvSpPr>
        <p:spPr>
          <a:xfrm>
            <a:off x="3119120" y="2010519"/>
            <a:ext cx="2011680" cy="101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ゲームプレイ</a:t>
            </a:r>
            <a:endParaRPr kumimoji="1" lang="ja-JP" altLang="en-US" dirty="0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35B141D5-E454-401E-8FD8-F9F418B6F991}"/>
              </a:ext>
            </a:extLst>
          </p:cNvPr>
          <p:cNvSpPr/>
          <p:nvPr/>
        </p:nvSpPr>
        <p:spPr>
          <a:xfrm>
            <a:off x="5527040" y="1995279"/>
            <a:ext cx="2011680" cy="101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マップ探索</a:t>
            </a:r>
            <a:endParaRPr kumimoji="1" lang="ja-JP" altLang="en-US" dirty="0"/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27445A97-0DC2-4323-8CCA-9D59374876B6}"/>
              </a:ext>
            </a:extLst>
          </p:cNvPr>
          <p:cNvSpPr/>
          <p:nvPr/>
        </p:nvSpPr>
        <p:spPr>
          <a:xfrm>
            <a:off x="4349130" y="3359518"/>
            <a:ext cx="2011680" cy="101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スコア獲得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436DA275-A355-490C-8079-D7CBC143C184}"/>
              </a:ext>
            </a:extLst>
          </p:cNvPr>
          <p:cNvSpPr/>
          <p:nvPr/>
        </p:nvSpPr>
        <p:spPr>
          <a:xfrm>
            <a:off x="6779961" y="3330486"/>
            <a:ext cx="2011680" cy="101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敵を倒す</a:t>
            </a:r>
          </a:p>
        </p:txBody>
      </p:sp>
      <p:sp>
        <p:nvSpPr>
          <p:cNvPr id="33" name="矢印: 右 32">
            <a:extLst>
              <a:ext uri="{FF2B5EF4-FFF2-40B4-BE49-F238E27FC236}">
                <a16:creationId xmlns:a16="http://schemas.microsoft.com/office/drawing/2014/main" id="{33C0C8C3-95ED-40B6-B175-66E40428CAB6}"/>
              </a:ext>
            </a:extLst>
          </p:cNvPr>
          <p:cNvSpPr/>
          <p:nvPr/>
        </p:nvSpPr>
        <p:spPr>
          <a:xfrm>
            <a:off x="2722880" y="2391519"/>
            <a:ext cx="395821" cy="2235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矢印: 右 33">
            <a:extLst>
              <a:ext uri="{FF2B5EF4-FFF2-40B4-BE49-F238E27FC236}">
                <a16:creationId xmlns:a16="http://schemas.microsoft.com/office/drawing/2014/main" id="{9EEC936B-1301-4440-A6E9-0525DC3CA48B}"/>
              </a:ext>
            </a:extLst>
          </p:cNvPr>
          <p:cNvSpPr/>
          <p:nvPr/>
        </p:nvSpPr>
        <p:spPr>
          <a:xfrm>
            <a:off x="5130381" y="2370079"/>
            <a:ext cx="395821" cy="2235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矢印: 右 35">
            <a:extLst>
              <a:ext uri="{FF2B5EF4-FFF2-40B4-BE49-F238E27FC236}">
                <a16:creationId xmlns:a16="http://schemas.microsoft.com/office/drawing/2014/main" id="{EF70BF7B-F23E-4B93-9211-DFC135450672}"/>
              </a:ext>
            </a:extLst>
          </p:cNvPr>
          <p:cNvSpPr/>
          <p:nvPr/>
        </p:nvSpPr>
        <p:spPr>
          <a:xfrm rot="10800000">
            <a:off x="6360633" y="3724261"/>
            <a:ext cx="419328" cy="2204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072CA01B-6D9E-48C9-8F84-7079A8C20781}"/>
              </a:ext>
            </a:extLst>
          </p:cNvPr>
          <p:cNvSpPr/>
          <p:nvPr/>
        </p:nvSpPr>
        <p:spPr>
          <a:xfrm>
            <a:off x="7972140" y="1995279"/>
            <a:ext cx="2011680" cy="101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アイテム獲得</a:t>
            </a:r>
            <a:endParaRPr kumimoji="1" lang="ja-JP" altLang="en-US" dirty="0"/>
          </a:p>
        </p:txBody>
      </p:sp>
      <p:sp>
        <p:nvSpPr>
          <p:cNvPr id="39" name="矢印: 右 38">
            <a:extLst>
              <a:ext uri="{FF2B5EF4-FFF2-40B4-BE49-F238E27FC236}">
                <a16:creationId xmlns:a16="http://schemas.microsoft.com/office/drawing/2014/main" id="{C5D92BDD-09CF-4173-A9DF-4393B66EF904}"/>
              </a:ext>
            </a:extLst>
          </p:cNvPr>
          <p:cNvSpPr/>
          <p:nvPr/>
        </p:nvSpPr>
        <p:spPr>
          <a:xfrm>
            <a:off x="7552812" y="2370079"/>
            <a:ext cx="419328" cy="2394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矢印: 下 41">
            <a:extLst>
              <a:ext uri="{FF2B5EF4-FFF2-40B4-BE49-F238E27FC236}">
                <a16:creationId xmlns:a16="http://schemas.microsoft.com/office/drawing/2014/main" id="{CD4F35D4-EB1A-47CC-9244-23B87BFBEE0D}"/>
              </a:ext>
            </a:extLst>
          </p:cNvPr>
          <p:cNvSpPr/>
          <p:nvPr/>
        </p:nvSpPr>
        <p:spPr>
          <a:xfrm rot="19483115">
            <a:off x="6475740" y="2976600"/>
            <a:ext cx="343084" cy="4827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68EB94A8-3EF9-434B-A446-E45F03858727}"/>
              </a:ext>
            </a:extLst>
          </p:cNvPr>
          <p:cNvSpPr/>
          <p:nvPr/>
        </p:nvSpPr>
        <p:spPr>
          <a:xfrm>
            <a:off x="3119120" y="4713700"/>
            <a:ext cx="2011680" cy="101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ボス討伐</a:t>
            </a:r>
          </a:p>
        </p:txBody>
      </p: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57106043-2541-4262-8896-16F40CEE5E64}"/>
              </a:ext>
            </a:extLst>
          </p:cNvPr>
          <p:cNvSpPr/>
          <p:nvPr/>
        </p:nvSpPr>
        <p:spPr>
          <a:xfrm>
            <a:off x="6822048" y="4713700"/>
            <a:ext cx="2011680" cy="101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プレイヤー強化</a:t>
            </a:r>
            <a:endParaRPr kumimoji="1" lang="ja-JP" altLang="en-US" dirty="0"/>
          </a:p>
        </p:txBody>
      </p:sp>
      <p:sp>
        <p:nvSpPr>
          <p:cNvPr id="48" name="矢印: 折線 47">
            <a:extLst>
              <a:ext uri="{FF2B5EF4-FFF2-40B4-BE49-F238E27FC236}">
                <a16:creationId xmlns:a16="http://schemas.microsoft.com/office/drawing/2014/main" id="{0297FAE9-8A5D-4B51-90DD-A5757DF8218A}"/>
              </a:ext>
            </a:extLst>
          </p:cNvPr>
          <p:cNvSpPr/>
          <p:nvPr/>
        </p:nvSpPr>
        <p:spPr>
          <a:xfrm rot="10800000">
            <a:off x="8833728" y="3011278"/>
            <a:ext cx="587678" cy="2403094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074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9" name="矢印: 下 48">
            <a:extLst>
              <a:ext uri="{FF2B5EF4-FFF2-40B4-BE49-F238E27FC236}">
                <a16:creationId xmlns:a16="http://schemas.microsoft.com/office/drawing/2014/main" id="{8ECBAE66-C890-4832-AA72-ECED85C9852D}"/>
              </a:ext>
            </a:extLst>
          </p:cNvPr>
          <p:cNvSpPr/>
          <p:nvPr/>
        </p:nvSpPr>
        <p:spPr>
          <a:xfrm rot="10800000">
            <a:off x="7538720" y="4329684"/>
            <a:ext cx="352246" cy="3991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矢印: 右 49">
            <a:extLst>
              <a:ext uri="{FF2B5EF4-FFF2-40B4-BE49-F238E27FC236}">
                <a16:creationId xmlns:a16="http://schemas.microsoft.com/office/drawing/2014/main" id="{0B5932C3-E3FF-4B64-8B3D-3B5CABADB392}"/>
              </a:ext>
            </a:extLst>
          </p:cNvPr>
          <p:cNvSpPr/>
          <p:nvPr/>
        </p:nvSpPr>
        <p:spPr>
          <a:xfrm rot="10800000">
            <a:off x="5130380" y="5111243"/>
            <a:ext cx="1691667" cy="2154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四角形: 角を丸くする 50">
            <a:extLst>
              <a:ext uri="{FF2B5EF4-FFF2-40B4-BE49-F238E27FC236}">
                <a16:creationId xmlns:a16="http://schemas.microsoft.com/office/drawing/2014/main" id="{ED26633F-58FF-4163-A4FF-60416712EE95}"/>
              </a:ext>
            </a:extLst>
          </p:cNvPr>
          <p:cNvSpPr/>
          <p:nvPr/>
        </p:nvSpPr>
        <p:spPr>
          <a:xfrm>
            <a:off x="708162" y="3436704"/>
            <a:ext cx="2011680" cy="101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スコア表示</a:t>
            </a:r>
            <a:endParaRPr kumimoji="1" lang="en-US" altLang="ja-JP" dirty="0"/>
          </a:p>
          <a:p>
            <a:pPr algn="ctr"/>
            <a:r>
              <a:rPr lang="ja-JP" altLang="en-US" dirty="0"/>
              <a:t>（戦績）</a:t>
            </a:r>
            <a:endParaRPr kumimoji="1" lang="ja-JP" altLang="en-US" dirty="0"/>
          </a:p>
        </p:txBody>
      </p:sp>
      <p:sp>
        <p:nvSpPr>
          <p:cNvPr id="52" name="矢印: 下 51">
            <a:extLst>
              <a:ext uri="{FF2B5EF4-FFF2-40B4-BE49-F238E27FC236}">
                <a16:creationId xmlns:a16="http://schemas.microsoft.com/office/drawing/2014/main" id="{6DE435EE-B030-464D-99D7-1B811D8BF3CA}"/>
              </a:ext>
            </a:extLst>
          </p:cNvPr>
          <p:cNvSpPr/>
          <p:nvPr/>
        </p:nvSpPr>
        <p:spPr>
          <a:xfrm rot="12163937">
            <a:off x="4988975" y="4349571"/>
            <a:ext cx="343084" cy="4827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矢印: 下 52">
            <a:extLst>
              <a:ext uri="{FF2B5EF4-FFF2-40B4-BE49-F238E27FC236}">
                <a16:creationId xmlns:a16="http://schemas.microsoft.com/office/drawing/2014/main" id="{FAA76A12-D7AE-4FBA-8F04-6A9DFEB557ED}"/>
              </a:ext>
            </a:extLst>
          </p:cNvPr>
          <p:cNvSpPr/>
          <p:nvPr/>
        </p:nvSpPr>
        <p:spPr>
          <a:xfrm rot="7916012">
            <a:off x="2786246" y="4254127"/>
            <a:ext cx="304066" cy="6145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矢印: 右 53">
            <a:extLst>
              <a:ext uri="{FF2B5EF4-FFF2-40B4-BE49-F238E27FC236}">
                <a16:creationId xmlns:a16="http://schemas.microsoft.com/office/drawing/2014/main" id="{4A5D1973-F5F3-405B-82C7-280C0002D233}"/>
              </a:ext>
            </a:extLst>
          </p:cNvPr>
          <p:cNvSpPr/>
          <p:nvPr/>
        </p:nvSpPr>
        <p:spPr>
          <a:xfrm rot="10800000">
            <a:off x="2699372" y="3777321"/>
            <a:ext cx="1649580" cy="1910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矢印: 下 54">
            <a:extLst>
              <a:ext uri="{FF2B5EF4-FFF2-40B4-BE49-F238E27FC236}">
                <a16:creationId xmlns:a16="http://schemas.microsoft.com/office/drawing/2014/main" id="{76D21F3C-DB82-4999-A193-295C43373C90}"/>
              </a:ext>
            </a:extLst>
          </p:cNvPr>
          <p:cNvSpPr/>
          <p:nvPr/>
        </p:nvSpPr>
        <p:spPr>
          <a:xfrm rot="13010782">
            <a:off x="2720230" y="2877464"/>
            <a:ext cx="343084" cy="6851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0E943D7B-F641-4534-A511-9F1B255D17CD}"/>
              </a:ext>
            </a:extLst>
          </p:cNvPr>
          <p:cNvSpPr txBox="1"/>
          <p:nvPr/>
        </p:nvSpPr>
        <p:spPr>
          <a:xfrm>
            <a:off x="6532880" y="5849035"/>
            <a:ext cx="3461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強化された力を使ってみたい！</a:t>
            </a: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29105DBB-32F8-408A-A8B4-15602A4A7098}"/>
              </a:ext>
            </a:extLst>
          </p:cNvPr>
          <p:cNvSpPr txBox="1"/>
          <p:nvPr/>
        </p:nvSpPr>
        <p:spPr>
          <a:xfrm>
            <a:off x="498261" y="4622289"/>
            <a:ext cx="2736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スコアを更新したい！</a:t>
            </a:r>
          </a:p>
        </p:txBody>
      </p:sp>
    </p:spTree>
    <p:extLst>
      <p:ext uri="{BB962C8B-B14F-4D97-AF65-F5344CB8AC3E}">
        <p14:creationId xmlns:p14="http://schemas.microsoft.com/office/powerpoint/2010/main" val="263297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4878</TotalTime>
  <Words>601</Words>
  <Application>Microsoft Office PowerPoint</Application>
  <PresentationFormat>ワイド画面</PresentationFormat>
  <Paragraphs>123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琥太郎</dc:creator>
  <cp:lastModifiedBy>琥太郎</cp:lastModifiedBy>
  <cp:revision>54</cp:revision>
  <dcterms:created xsi:type="dcterms:W3CDTF">2026-09-24T05:22:28Z</dcterms:created>
  <dcterms:modified xsi:type="dcterms:W3CDTF">2026-10-05T06:46:48Z</dcterms:modified>
</cp:coreProperties>
</file>